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0"/>
  </p:notesMasterIdLst>
  <p:sldIdLst>
    <p:sldId id="256" r:id="rId2"/>
    <p:sldId id="257" r:id="rId3"/>
    <p:sldId id="310" r:id="rId4"/>
    <p:sldId id="306" r:id="rId5"/>
    <p:sldId id="258" r:id="rId6"/>
    <p:sldId id="307" r:id="rId7"/>
    <p:sldId id="261" r:id="rId8"/>
    <p:sldId id="262" r:id="rId9"/>
    <p:sldId id="263" r:id="rId10"/>
    <p:sldId id="264" r:id="rId11"/>
    <p:sldId id="308" r:id="rId12"/>
    <p:sldId id="259" r:id="rId13"/>
    <p:sldId id="311" r:id="rId14"/>
    <p:sldId id="269" r:id="rId15"/>
    <p:sldId id="260" r:id="rId16"/>
    <p:sldId id="270" r:id="rId17"/>
    <p:sldId id="271" r:id="rId18"/>
    <p:sldId id="272" r:id="rId19"/>
    <p:sldId id="312" r:id="rId20"/>
    <p:sldId id="275" r:id="rId21"/>
    <p:sldId id="273" r:id="rId22"/>
    <p:sldId id="274" r:id="rId23"/>
    <p:sldId id="276" r:id="rId24"/>
    <p:sldId id="277" r:id="rId25"/>
    <p:sldId id="278" r:id="rId26"/>
    <p:sldId id="279" r:id="rId27"/>
    <p:sldId id="280" r:id="rId28"/>
    <p:sldId id="313" r:id="rId29"/>
    <p:sldId id="265" r:id="rId30"/>
    <p:sldId id="266" r:id="rId31"/>
    <p:sldId id="282" r:id="rId32"/>
    <p:sldId id="315" r:id="rId33"/>
    <p:sldId id="267" r:id="rId34"/>
    <p:sldId id="268" r:id="rId35"/>
    <p:sldId id="285" r:id="rId36"/>
    <p:sldId id="286" r:id="rId37"/>
    <p:sldId id="302" r:id="rId38"/>
    <p:sldId id="303" r:id="rId39"/>
    <p:sldId id="304" r:id="rId40"/>
    <p:sldId id="287" r:id="rId41"/>
    <p:sldId id="288" r:id="rId42"/>
    <p:sldId id="299" r:id="rId43"/>
    <p:sldId id="305" r:id="rId44"/>
    <p:sldId id="309" r:id="rId45"/>
    <p:sldId id="297" r:id="rId46"/>
    <p:sldId id="300" r:id="rId47"/>
    <p:sldId id="289" r:id="rId48"/>
    <p:sldId id="301" r:id="rId49"/>
    <p:sldId id="298" r:id="rId50"/>
    <p:sldId id="296" r:id="rId51"/>
    <p:sldId id="316" r:id="rId52"/>
    <p:sldId id="317" r:id="rId53"/>
    <p:sldId id="283" r:id="rId54"/>
    <p:sldId id="284" r:id="rId55"/>
    <p:sldId id="292" r:id="rId56"/>
    <p:sldId id="295" r:id="rId57"/>
    <p:sldId id="293" r:id="rId58"/>
    <p:sldId id="294" r:id="rId5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8C8D86"/>
    <a:srgbClr val="EFED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FABCEE-A9F7-43C7-A1A4-0319E0210DF6}" v="270" dt="2025-04-11T08:55:51.3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Stile medio 2 - Color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Stile medio 2 - Color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Stile medio 2 - Color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89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90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CARDO CONVERSO" userId="25be97ea-9427-49a6-8ede-e8f1362603a2" providerId="ADAL" clId="{77FABCEE-A9F7-43C7-A1A4-0319E0210DF6}"/>
    <pc:docChg chg="undo redo custSel addSld delSld modSld sldOrd">
      <pc:chgData name="RICCARDO CONVERSO" userId="25be97ea-9427-49a6-8ede-e8f1362603a2" providerId="ADAL" clId="{77FABCEE-A9F7-43C7-A1A4-0319E0210DF6}" dt="2025-04-11T08:55:51.334" v="1901"/>
      <pc:docMkLst>
        <pc:docMk/>
      </pc:docMkLst>
      <pc:sldChg chg="delSp modSp mod">
        <pc:chgData name="RICCARDO CONVERSO" userId="25be97ea-9427-49a6-8ede-e8f1362603a2" providerId="ADAL" clId="{77FABCEE-A9F7-43C7-A1A4-0319E0210DF6}" dt="2025-04-01T15:41:02.370" v="648" actId="478"/>
        <pc:sldMkLst>
          <pc:docMk/>
          <pc:sldMk cId="3696217832" sldId="258"/>
        </pc:sldMkLst>
      </pc:sldChg>
      <pc:sldChg chg="addSp modSp mod modAnim">
        <pc:chgData name="RICCARDO CONVERSO" userId="25be97ea-9427-49a6-8ede-e8f1362603a2" providerId="ADAL" clId="{77FABCEE-A9F7-43C7-A1A4-0319E0210DF6}" dt="2025-04-11T08:55:51.334" v="1901"/>
        <pc:sldMkLst>
          <pc:docMk/>
          <pc:sldMk cId="3116565908" sldId="265"/>
        </pc:sldMkLst>
        <pc:spChg chg="mod">
          <ac:chgData name="RICCARDO CONVERSO" userId="25be97ea-9427-49a6-8ede-e8f1362603a2" providerId="ADAL" clId="{77FABCEE-A9F7-43C7-A1A4-0319E0210DF6}" dt="2025-04-01T15:45:44.126" v="835" actId="20577"/>
          <ac:spMkLst>
            <pc:docMk/>
            <pc:sldMk cId="3116565908" sldId="265"/>
            <ac:spMk id="3" creationId="{315CED1D-A31D-CCBE-B69D-C48BEB615CBD}"/>
          </ac:spMkLst>
        </pc:spChg>
        <pc:spChg chg="add mod">
          <ac:chgData name="RICCARDO CONVERSO" userId="25be97ea-9427-49a6-8ede-e8f1362603a2" providerId="ADAL" clId="{77FABCEE-A9F7-43C7-A1A4-0319E0210DF6}" dt="2025-04-11T08:55:41.327" v="1900" actId="207"/>
          <ac:spMkLst>
            <pc:docMk/>
            <pc:sldMk cId="3116565908" sldId="265"/>
            <ac:spMk id="4" creationId="{CAD3CD10-6FE1-DDB3-D438-C676DD95DFEA}"/>
          </ac:spMkLst>
        </pc:spChg>
      </pc:sldChg>
      <pc:sldChg chg="modSp mod">
        <pc:chgData name="RICCARDO CONVERSO" userId="25be97ea-9427-49a6-8ede-e8f1362603a2" providerId="ADAL" clId="{77FABCEE-A9F7-43C7-A1A4-0319E0210DF6}" dt="2025-04-01T15:45:08.794" v="746" actId="20577"/>
        <pc:sldMkLst>
          <pc:docMk/>
          <pc:sldMk cId="1453745324" sldId="266"/>
        </pc:sldMkLst>
        <pc:spChg chg="mod">
          <ac:chgData name="RICCARDO CONVERSO" userId="25be97ea-9427-49a6-8ede-e8f1362603a2" providerId="ADAL" clId="{77FABCEE-A9F7-43C7-A1A4-0319E0210DF6}" dt="2025-04-01T15:45:08.794" v="746" actId="20577"/>
          <ac:spMkLst>
            <pc:docMk/>
            <pc:sldMk cId="1453745324" sldId="266"/>
            <ac:spMk id="3" creationId="{5C6341CB-5A4D-337A-EAB0-8A1D4040C3A2}"/>
          </ac:spMkLst>
        </pc:spChg>
      </pc:sldChg>
      <pc:sldChg chg="modSp mod">
        <pc:chgData name="RICCARDO CONVERSO" userId="25be97ea-9427-49a6-8ede-e8f1362603a2" providerId="ADAL" clId="{77FABCEE-A9F7-43C7-A1A4-0319E0210DF6}" dt="2025-04-02T17:02:14.270" v="1115" actId="20577"/>
        <pc:sldMkLst>
          <pc:docMk/>
          <pc:sldMk cId="3915459659" sldId="269"/>
        </pc:sldMkLst>
        <pc:spChg chg="mod">
          <ac:chgData name="RICCARDO CONVERSO" userId="25be97ea-9427-49a6-8ede-e8f1362603a2" providerId="ADAL" clId="{77FABCEE-A9F7-43C7-A1A4-0319E0210DF6}" dt="2025-04-02T17:02:14.270" v="1115" actId="20577"/>
          <ac:spMkLst>
            <pc:docMk/>
            <pc:sldMk cId="3915459659" sldId="269"/>
            <ac:spMk id="3" creationId="{F8046EE8-52D5-2F4C-CB7C-D9484EB94760}"/>
          </ac:spMkLst>
        </pc:spChg>
      </pc:sldChg>
      <pc:sldChg chg="modSp mod">
        <pc:chgData name="RICCARDO CONVERSO" userId="25be97ea-9427-49a6-8ede-e8f1362603a2" providerId="ADAL" clId="{77FABCEE-A9F7-43C7-A1A4-0319E0210DF6}" dt="2025-04-11T08:52:31.821" v="1889" actId="20577"/>
        <pc:sldMkLst>
          <pc:docMk/>
          <pc:sldMk cId="3902075099" sldId="270"/>
        </pc:sldMkLst>
        <pc:spChg chg="mod">
          <ac:chgData name="RICCARDO CONVERSO" userId="25be97ea-9427-49a6-8ede-e8f1362603a2" providerId="ADAL" clId="{77FABCEE-A9F7-43C7-A1A4-0319E0210DF6}" dt="2025-04-11T08:52:31.821" v="1889" actId="20577"/>
          <ac:spMkLst>
            <pc:docMk/>
            <pc:sldMk cId="3902075099" sldId="270"/>
            <ac:spMk id="2" creationId="{056E3E1C-3190-ED3B-63CF-8F171262E211}"/>
          </ac:spMkLst>
        </pc:spChg>
      </pc:sldChg>
      <pc:sldChg chg="del">
        <pc:chgData name="RICCARDO CONVERSO" userId="25be97ea-9427-49a6-8ede-e8f1362603a2" providerId="ADAL" clId="{77FABCEE-A9F7-43C7-A1A4-0319E0210DF6}" dt="2025-04-01T15:43:46.156" v="694" actId="47"/>
        <pc:sldMkLst>
          <pc:docMk/>
          <pc:sldMk cId="848526407" sldId="281"/>
        </pc:sldMkLst>
      </pc:sldChg>
      <pc:sldChg chg="modSp mod">
        <pc:chgData name="RICCARDO CONVERSO" userId="25be97ea-9427-49a6-8ede-e8f1362603a2" providerId="ADAL" clId="{77FABCEE-A9F7-43C7-A1A4-0319E0210DF6}" dt="2025-04-02T16:56:02.617" v="1114" actId="14100"/>
        <pc:sldMkLst>
          <pc:docMk/>
          <pc:sldMk cId="1930273890" sldId="282"/>
        </pc:sldMkLst>
        <pc:spChg chg="mod">
          <ac:chgData name="RICCARDO CONVERSO" userId="25be97ea-9427-49a6-8ede-e8f1362603a2" providerId="ADAL" clId="{77FABCEE-A9F7-43C7-A1A4-0319E0210DF6}" dt="2025-04-02T16:55:51.573" v="1112" actId="113"/>
          <ac:spMkLst>
            <pc:docMk/>
            <pc:sldMk cId="1930273890" sldId="282"/>
            <ac:spMk id="3" creationId="{EA42C85E-15D2-9228-3027-6A784889B22C}"/>
          </ac:spMkLst>
        </pc:spChg>
        <pc:cxnChg chg="mod">
          <ac:chgData name="RICCARDO CONVERSO" userId="25be97ea-9427-49a6-8ede-e8f1362603a2" providerId="ADAL" clId="{77FABCEE-A9F7-43C7-A1A4-0319E0210DF6}" dt="2025-04-02T16:56:02.617" v="1114" actId="14100"/>
          <ac:cxnSpMkLst>
            <pc:docMk/>
            <pc:sldMk cId="1930273890" sldId="282"/>
            <ac:cxnSpMk id="6" creationId="{C563CDCB-973B-2ED6-359F-60A14CB5858C}"/>
          </ac:cxnSpMkLst>
        </pc:cxnChg>
      </pc:sldChg>
      <pc:sldChg chg="modSp mod ord">
        <pc:chgData name="RICCARDO CONVERSO" userId="25be97ea-9427-49a6-8ede-e8f1362603a2" providerId="ADAL" clId="{77FABCEE-A9F7-43C7-A1A4-0319E0210DF6}" dt="2025-04-09T16:01:17.701" v="1869" actId="20577"/>
        <pc:sldMkLst>
          <pc:docMk/>
          <pc:sldMk cId="1018534543" sldId="283"/>
        </pc:sldMkLst>
        <pc:spChg chg="mod">
          <ac:chgData name="RICCARDO CONVERSO" userId="25be97ea-9427-49a6-8ede-e8f1362603a2" providerId="ADAL" clId="{77FABCEE-A9F7-43C7-A1A4-0319E0210DF6}" dt="2025-04-09T16:01:17.701" v="1869" actId="20577"/>
          <ac:spMkLst>
            <pc:docMk/>
            <pc:sldMk cId="1018534543" sldId="283"/>
            <ac:spMk id="2" creationId="{187F9584-C6A2-9F40-FF47-83744EB1FA83}"/>
          </ac:spMkLst>
        </pc:spChg>
      </pc:sldChg>
      <pc:sldChg chg="modSp mod">
        <pc:chgData name="RICCARDO CONVERSO" userId="25be97ea-9427-49a6-8ede-e8f1362603a2" providerId="ADAL" clId="{77FABCEE-A9F7-43C7-A1A4-0319E0210DF6}" dt="2025-04-09T16:01:24.587" v="1870"/>
        <pc:sldMkLst>
          <pc:docMk/>
          <pc:sldMk cId="3841865909" sldId="284"/>
        </pc:sldMkLst>
        <pc:spChg chg="mod">
          <ac:chgData name="RICCARDO CONVERSO" userId="25be97ea-9427-49a6-8ede-e8f1362603a2" providerId="ADAL" clId="{77FABCEE-A9F7-43C7-A1A4-0319E0210DF6}" dt="2025-04-09T16:01:24.587" v="1870"/>
          <ac:spMkLst>
            <pc:docMk/>
            <pc:sldMk cId="3841865909" sldId="284"/>
            <ac:spMk id="2" creationId="{F2D6B7D6-5608-2419-2B11-BD87F74970DB}"/>
          </ac:spMkLst>
        </pc:spChg>
      </pc:sldChg>
      <pc:sldChg chg="ord">
        <pc:chgData name="RICCARDO CONVERSO" userId="25be97ea-9427-49a6-8ede-e8f1362603a2" providerId="ADAL" clId="{77FABCEE-A9F7-43C7-A1A4-0319E0210DF6}" dt="2025-04-01T15:48:15.037" v="838"/>
        <pc:sldMkLst>
          <pc:docMk/>
          <pc:sldMk cId="4163063622" sldId="285"/>
        </pc:sldMkLst>
      </pc:sldChg>
      <pc:sldChg chg="ord">
        <pc:chgData name="RICCARDO CONVERSO" userId="25be97ea-9427-49a6-8ede-e8f1362603a2" providerId="ADAL" clId="{77FABCEE-A9F7-43C7-A1A4-0319E0210DF6}" dt="2025-04-01T15:48:15.037" v="838"/>
        <pc:sldMkLst>
          <pc:docMk/>
          <pc:sldMk cId="3088860392" sldId="286"/>
        </pc:sldMkLst>
      </pc:sldChg>
      <pc:sldChg chg="ord">
        <pc:chgData name="RICCARDO CONVERSO" userId="25be97ea-9427-49a6-8ede-e8f1362603a2" providerId="ADAL" clId="{77FABCEE-A9F7-43C7-A1A4-0319E0210DF6}" dt="2025-04-01T15:48:15.037" v="838"/>
        <pc:sldMkLst>
          <pc:docMk/>
          <pc:sldMk cId="2044465555" sldId="287"/>
        </pc:sldMkLst>
      </pc:sldChg>
      <pc:sldChg chg="ord">
        <pc:chgData name="RICCARDO CONVERSO" userId="25be97ea-9427-49a6-8ede-e8f1362603a2" providerId="ADAL" clId="{77FABCEE-A9F7-43C7-A1A4-0319E0210DF6}" dt="2025-04-01T15:48:15.037" v="838"/>
        <pc:sldMkLst>
          <pc:docMk/>
          <pc:sldMk cId="4042340" sldId="288"/>
        </pc:sldMkLst>
      </pc:sldChg>
      <pc:sldChg chg="ord">
        <pc:chgData name="RICCARDO CONVERSO" userId="25be97ea-9427-49a6-8ede-e8f1362603a2" providerId="ADAL" clId="{77FABCEE-A9F7-43C7-A1A4-0319E0210DF6}" dt="2025-04-01T15:48:15.037" v="838"/>
        <pc:sldMkLst>
          <pc:docMk/>
          <pc:sldMk cId="1999541669" sldId="289"/>
        </pc:sldMkLst>
      </pc:sldChg>
      <pc:sldChg chg="ord">
        <pc:chgData name="RICCARDO CONVERSO" userId="25be97ea-9427-49a6-8ede-e8f1362603a2" providerId="ADAL" clId="{77FABCEE-A9F7-43C7-A1A4-0319E0210DF6}" dt="2025-04-01T15:48:15.037" v="838"/>
        <pc:sldMkLst>
          <pc:docMk/>
          <pc:sldMk cId="11759713" sldId="296"/>
        </pc:sldMkLst>
      </pc:sldChg>
      <pc:sldChg chg="ord">
        <pc:chgData name="RICCARDO CONVERSO" userId="25be97ea-9427-49a6-8ede-e8f1362603a2" providerId="ADAL" clId="{77FABCEE-A9F7-43C7-A1A4-0319E0210DF6}" dt="2025-04-01T15:48:15.037" v="838"/>
        <pc:sldMkLst>
          <pc:docMk/>
          <pc:sldMk cId="677326435" sldId="297"/>
        </pc:sldMkLst>
      </pc:sldChg>
      <pc:sldChg chg="ord">
        <pc:chgData name="RICCARDO CONVERSO" userId="25be97ea-9427-49a6-8ede-e8f1362603a2" providerId="ADAL" clId="{77FABCEE-A9F7-43C7-A1A4-0319E0210DF6}" dt="2025-04-01T15:48:15.037" v="838"/>
        <pc:sldMkLst>
          <pc:docMk/>
          <pc:sldMk cId="3068234349" sldId="298"/>
        </pc:sldMkLst>
      </pc:sldChg>
      <pc:sldChg chg="ord">
        <pc:chgData name="RICCARDO CONVERSO" userId="25be97ea-9427-49a6-8ede-e8f1362603a2" providerId="ADAL" clId="{77FABCEE-A9F7-43C7-A1A4-0319E0210DF6}" dt="2025-04-01T15:48:15.037" v="838"/>
        <pc:sldMkLst>
          <pc:docMk/>
          <pc:sldMk cId="1391196339" sldId="299"/>
        </pc:sldMkLst>
      </pc:sldChg>
      <pc:sldChg chg="ord">
        <pc:chgData name="RICCARDO CONVERSO" userId="25be97ea-9427-49a6-8ede-e8f1362603a2" providerId="ADAL" clId="{77FABCEE-A9F7-43C7-A1A4-0319E0210DF6}" dt="2025-04-01T15:48:15.037" v="838"/>
        <pc:sldMkLst>
          <pc:docMk/>
          <pc:sldMk cId="4182170071" sldId="300"/>
        </pc:sldMkLst>
      </pc:sldChg>
      <pc:sldChg chg="ord">
        <pc:chgData name="RICCARDO CONVERSO" userId="25be97ea-9427-49a6-8ede-e8f1362603a2" providerId="ADAL" clId="{77FABCEE-A9F7-43C7-A1A4-0319E0210DF6}" dt="2025-04-01T15:48:15.037" v="838"/>
        <pc:sldMkLst>
          <pc:docMk/>
          <pc:sldMk cId="410586489" sldId="301"/>
        </pc:sldMkLst>
      </pc:sldChg>
      <pc:sldChg chg="ord">
        <pc:chgData name="RICCARDO CONVERSO" userId="25be97ea-9427-49a6-8ede-e8f1362603a2" providerId="ADAL" clId="{77FABCEE-A9F7-43C7-A1A4-0319E0210DF6}" dt="2025-04-01T15:48:15.037" v="838"/>
        <pc:sldMkLst>
          <pc:docMk/>
          <pc:sldMk cId="1555657921" sldId="302"/>
        </pc:sldMkLst>
      </pc:sldChg>
      <pc:sldChg chg="ord">
        <pc:chgData name="RICCARDO CONVERSO" userId="25be97ea-9427-49a6-8ede-e8f1362603a2" providerId="ADAL" clId="{77FABCEE-A9F7-43C7-A1A4-0319E0210DF6}" dt="2025-04-01T15:48:15.037" v="838"/>
        <pc:sldMkLst>
          <pc:docMk/>
          <pc:sldMk cId="3631147905" sldId="303"/>
        </pc:sldMkLst>
      </pc:sldChg>
      <pc:sldChg chg="ord">
        <pc:chgData name="RICCARDO CONVERSO" userId="25be97ea-9427-49a6-8ede-e8f1362603a2" providerId="ADAL" clId="{77FABCEE-A9F7-43C7-A1A4-0319E0210DF6}" dt="2025-04-01T15:48:15.037" v="838"/>
        <pc:sldMkLst>
          <pc:docMk/>
          <pc:sldMk cId="1023251781" sldId="304"/>
        </pc:sldMkLst>
      </pc:sldChg>
      <pc:sldChg chg="ord">
        <pc:chgData name="RICCARDO CONVERSO" userId="25be97ea-9427-49a6-8ede-e8f1362603a2" providerId="ADAL" clId="{77FABCEE-A9F7-43C7-A1A4-0319E0210DF6}" dt="2025-04-01T15:48:15.037" v="838"/>
        <pc:sldMkLst>
          <pc:docMk/>
          <pc:sldMk cId="751031074" sldId="305"/>
        </pc:sldMkLst>
      </pc:sldChg>
      <pc:sldChg chg="modSp mod">
        <pc:chgData name="RICCARDO CONVERSO" userId="25be97ea-9427-49a6-8ede-e8f1362603a2" providerId="ADAL" clId="{77FABCEE-A9F7-43C7-A1A4-0319E0210DF6}" dt="2025-04-01T15:38:36.727" v="627" actId="20577"/>
        <pc:sldMkLst>
          <pc:docMk/>
          <pc:sldMk cId="1221338149" sldId="306"/>
        </pc:sldMkLst>
        <pc:spChg chg="mod">
          <ac:chgData name="RICCARDO CONVERSO" userId="25be97ea-9427-49a6-8ede-e8f1362603a2" providerId="ADAL" clId="{77FABCEE-A9F7-43C7-A1A4-0319E0210DF6}" dt="2025-04-01T15:38:36.727" v="627" actId="20577"/>
          <ac:spMkLst>
            <pc:docMk/>
            <pc:sldMk cId="1221338149" sldId="306"/>
            <ac:spMk id="3" creationId="{C10F6500-9072-98F1-22EE-F578B0FDA618}"/>
          </ac:spMkLst>
        </pc:spChg>
      </pc:sldChg>
      <pc:sldChg chg="modSp mod">
        <pc:chgData name="RICCARDO CONVERSO" userId="25be97ea-9427-49a6-8ede-e8f1362603a2" providerId="ADAL" clId="{77FABCEE-A9F7-43C7-A1A4-0319E0210DF6}" dt="2025-04-11T08:50:36.056" v="1873" actId="1076"/>
        <pc:sldMkLst>
          <pc:docMk/>
          <pc:sldMk cId="2352317765" sldId="308"/>
        </pc:sldMkLst>
        <pc:spChg chg="mod">
          <ac:chgData name="RICCARDO CONVERSO" userId="25be97ea-9427-49a6-8ede-e8f1362603a2" providerId="ADAL" clId="{77FABCEE-A9F7-43C7-A1A4-0319E0210DF6}" dt="2025-04-11T08:50:36.056" v="1873" actId="1076"/>
          <ac:spMkLst>
            <pc:docMk/>
            <pc:sldMk cId="2352317765" sldId="308"/>
            <ac:spMk id="3" creationId="{CD0C6D92-C200-765C-09E9-11AFACF8B05C}"/>
          </ac:spMkLst>
        </pc:spChg>
      </pc:sldChg>
      <pc:sldChg chg="ord">
        <pc:chgData name="RICCARDO CONVERSO" userId="25be97ea-9427-49a6-8ede-e8f1362603a2" providerId="ADAL" clId="{77FABCEE-A9F7-43C7-A1A4-0319E0210DF6}" dt="2025-04-01T15:48:15.037" v="838"/>
        <pc:sldMkLst>
          <pc:docMk/>
          <pc:sldMk cId="3511169236" sldId="309"/>
        </pc:sldMkLst>
      </pc:sldChg>
      <pc:sldChg chg="modSp add mod">
        <pc:chgData name="RICCARDO CONVERSO" userId="25be97ea-9427-49a6-8ede-e8f1362603a2" providerId="ADAL" clId="{77FABCEE-A9F7-43C7-A1A4-0319E0210DF6}" dt="2025-04-01T15:35:04.024" v="504" actId="113"/>
        <pc:sldMkLst>
          <pc:docMk/>
          <pc:sldMk cId="758107739" sldId="310"/>
        </pc:sldMkLst>
        <pc:spChg chg="mod">
          <ac:chgData name="RICCARDO CONVERSO" userId="25be97ea-9427-49a6-8ede-e8f1362603a2" providerId="ADAL" clId="{77FABCEE-A9F7-43C7-A1A4-0319E0210DF6}" dt="2025-04-01T15:31:06.141" v="16" actId="20577"/>
          <ac:spMkLst>
            <pc:docMk/>
            <pc:sldMk cId="758107739" sldId="310"/>
            <ac:spMk id="2" creationId="{24C40ACD-48ED-ECBB-D7E4-BEB7094F3465}"/>
          </ac:spMkLst>
        </pc:spChg>
        <pc:spChg chg="mod">
          <ac:chgData name="RICCARDO CONVERSO" userId="25be97ea-9427-49a6-8ede-e8f1362603a2" providerId="ADAL" clId="{77FABCEE-A9F7-43C7-A1A4-0319E0210DF6}" dt="2025-04-01T15:35:04.024" v="504" actId="113"/>
          <ac:spMkLst>
            <pc:docMk/>
            <pc:sldMk cId="758107739" sldId="310"/>
            <ac:spMk id="3" creationId="{4E22FA3E-F2FB-E7B1-4212-0167406DCBCF}"/>
          </ac:spMkLst>
        </pc:spChg>
      </pc:sldChg>
      <pc:sldChg chg="modSp add mod">
        <pc:chgData name="RICCARDO CONVERSO" userId="25be97ea-9427-49a6-8ede-e8f1362603a2" providerId="ADAL" clId="{77FABCEE-A9F7-43C7-A1A4-0319E0210DF6}" dt="2025-04-01T15:42:33.750" v="668" actId="1076"/>
        <pc:sldMkLst>
          <pc:docMk/>
          <pc:sldMk cId="2286913475" sldId="311"/>
        </pc:sldMkLst>
        <pc:spChg chg="mod">
          <ac:chgData name="RICCARDO CONVERSO" userId="25be97ea-9427-49a6-8ede-e8f1362603a2" providerId="ADAL" clId="{77FABCEE-A9F7-43C7-A1A4-0319E0210DF6}" dt="2025-04-01T15:42:33.750" v="668" actId="1076"/>
          <ac:spMkLst>
            <pc:docMk/>
            <pc:sldMk cId="2286913475" sldId="311"/>
            <ac:spMk id="2" creationId="{6478DAAB-8C9C-123B-8AB0-12F038AE6CC3}"/>
          </ac:spMkLst>
        </pc:spChg>
      </pc:sldChg>
      <pc:sldChg chg="modSp add mod">
        <pc:chgData name="RICCARDO CONVERSO" userId="25be97ea-9427-49a6-8ede-e8f1362603a2" providerId="ADAL" clId="{77FABCEE-A9F7-43C7-A1A4-0319E0210DF6}" dt="2025-04-01T15:43:30.199" v="693" actId="1076"/>
        <pc:sldMkLst>
          <pc:docMk/>
          <pc:sldMk cId="4250585393" sldId="312"/>
        </pc:sldMkLst>
        <pc:spChg chg="mod">
          <ac:chgData name="RICCARDO CONVERSO" userId="25be97ea-9427-49a6-8ede-e8f1362603a2" providerId="ADAL" clId="{77FABCEE-A9F7-43C7-A1A4-0319E0210DF6}" dt="2025-04-01T15:43:30.199" v="693" actId="1076"/>
          <ac:spMkLst>
            <pc:docMk/>
            <pc:sldMk cId="4250585393" sldId="312"/>
            <ac:spMk id="2" creationId="{E4E321DB-CD90-FC02-CCDC-2E52E3A5C4F1}"/>
          </ac:spMkLst>
        </pc:spChg>
      </pc:sldChg>
      <pc:sldChg chg="modSp add mod">
        <pc:chgData name="RICCARDO CONVERSO" userId="25be97ea-9427-49a6-8ede-e8f1362603a2" providerId="ADAL" clId="{77FABCEE-A9F7-43C7-A1A4-0319E0210DF6}" dt="2025-04-01T15:44:00.487" v="713" actId="1076"/>
        <pc:sldMkLst>
          <pc:docMk/>
          <pc:sldMk cId="958428765" sldId="313"/>
        </pc:sldMkLst>
        <pc:spChg chg="mod">
          <ac:chgData name="RICCARDO CONVERSO" userId="25be97ea-9427-49a6-8ede-e8f1362603a2" providerId="ADAL" clId="{77FABCEE-A9F7-43C7-A1A4-0319E0210DF6}" dt="2025-04-01T15:44:00.487" v="713" actId="1076"/>
          <ac:spMkLst>
            <pc:docMk/>
            <pc:sldMk cId="958428765" sldId="313"/>
            <ac:spMk id="2" creationId="{573DE156-79F0-3B1A-6367-CB0E84472677}"/>
          </ac:spMkLst>
        </pc:spChg>
      </pc:sldChg>
      <pc:sldChg chg="addSp modSp new del mod">
        <pc:chgData name="RICCARDO CONVERSO" userId="25be97ea-9427-49a6-8ede-e8f1362603a2" providerId="ADAL" clId="{77FABCEE-A9F7-43C7-A1A4-0319E0210DF6}" dt="2025-04-02T16:49:40.665" v="843" actId="47"/>
        <pc:sldMkLst>
          <pc:docMk/>
          <pc:sldMk cId="3442314324" sldId="314"/>
        </pc:sldMkLst>
      </pc:sldChg>
      <pc:sldChg chg="addSp delSp modSp add mod delAnim modAnim">
        <pc:chgData name="RICCARDO CONVERSO" userId="25be97ea-9427-49a6-8ede-e8f1362603a2" providerId="ADAL" clId="{77FABCEE-A9F7-43C7-A1A4-0319E0210DF6}" dt="2025-04-02T16:53:20.391" v="1090" actId="113"/>
        <pc:sldMkLst>
          <pc:docMk/>
          <pc:sldMk cId="582525260" sldId="315"/>
        </pc:sldMkLst>
        <pc:spChg chg="mod">
          <ac:chgData name="RICCARDO CONVERSO" userId="25be97ea-9427-49a6-8ede-e8f1362603a2" providerId="ADAL" clId="{77FABCEE-A9F7-43C7-A1A4-0319E0210DF6}" dt="2025-04-02T16:53:20.391" v="1090" actId="113"/>
          <ac:spMkLst>
            <pc:docMk/>
            <pc:sldMk cId="582525260" sldId="315"/>
            <ac:spMk id="3" creationId="{3D6FC4EB-874D-8028-A4C0-ED201459F2FF}"/>
          </ac:spMkLst>
        </pc:spChg>
        <pc:picChg chg="add mod">
          <ac:chgData name="RICCARDO CONVERSO" userId="25be97ea-9427-49a6-8ede-e8f1362603a2" providerId="ADAL" clId="{77FABCEE-A9F7-43C7-A1A4-0319E0210DF6}" dt="2025-04-02T16:51:20.093" v="1089" actId="1076"/>
          <ac:picMkLst>
            <pc:docMk/>
            <pc:sldMk cId="582525260" sldId="315"/>
            <ac:picMk id="7" creationId="{AEF2C208-53C6-E145-1831-E50A62623C55}"/>
          </ac:picMkLst>
        </pc:picChg>
      </pc:sldChg>
      <pc:sldChg chg="addSp delSp modSp add mod">
        <pc:chgData name="RICCARDO CONVERSO" userId="25be97ea-9427-49a6-8ede-e8f1362603a2" providerId="ADAL" clId="{77FABCEE-A9F7-43C7-A1A4-0319E0210DF6}" dt="2025-04-09T15:47:50.411" v="1427" actId="20577"/>
        <pc:sldMkLst>
          <pc:docMk/>
          <pc:sldMk cId="1239381590" sldId="316"/>
        </pc:sldMkLst>
        <pc:spChg chg="mod">
          <ac:chgData name="RICCARDO CONVERSO" userId="25be97ea-9427-49a6-8ede-e8f1362603a2" providerId="ADAL" clId="{77FABCEE-A9F7-43C7-A1A4-0319E0210DF6}" dt="2025-04-09T15:44:12.351" v="1158" actId="5793"/>
          <ac:spMkLst>
            <pc:docMk/>
            <pc:sldMk cId="1239381590" sldId="316"/>
            <ac:spMk id="2" creationId="{94C12AAC-EF96-73C6-354D-2EFBC524B6D2}"/>
          </ac:spMkLst>
        </pc:spChg>
        <pc:spChg chg="mod">
          <ac:chgData name="RICCARDO CONVERSO" userId="25be97ea-9427-49a6-8ede-e8f1362603a2" providerId="ADAL" clId="{77FABCEE-A9F7-43C7-A1A4-0319E0210DF6}" dt="2025-04-09T15:47:50.411" v="1427" actId="20577"/>
          <ac:spMkLst>
            <pc:docMk/>
            <pc:sldMk cId="1239381590" sldId="316"/>
            <ac:spMk id="3" creationId="{E09FAD2C-0A60-4793-C2D2-E512FBAF2D55}"/>
          </ac:spMkLst>
        </pc:spChg>
        <pc:picChg chg="add">
          <ac:chgData name="RICCARDO CONVERSO" userId="25be97ea-9427-49a6-8ede-e8f1362603a2" providerId="ADAL" clId="{77FABCEE-A9F7-43C7-A1A4-0319E0210DF6}" dt="2025-04-09T15:47:44.718" v="1425" actId="22"/>
          <ac:picMkLst>
            <pc:docMk/>
            <pc:sldMk cId="1239381590" sldId="316"/>
            <ac:picMk id="6" creationId="{10E5F9D7-91A7-D1DD-CF38-0813916DB52D}"/>
          </ac:picMkLst>
        </pc:picChg>
      </pc:sldChg>
      <pc:sldChg chg="addSp delSp modSp add mod">
        <pc:chgData name="RICCARDO CONVERSO" userId="25be97ea-9427-49a6-8ede-e8f1362603a2" providerId="ADAL" clId="{77FABCEE-A9F7-43C7-A1A4-0319E0210DF6}" dt="2025-04-09T16:00:29.938" v="1846" actId="1076"/>
        <pc:sldMkLst>
          <pc:docMk/>
          <pc:sldMk cId="3144062057" sldId="317"/>
        </pc:sldMkLst>
        <pc:spChg chg="mod">
          <ac:chgData name="RICCARDO CONVERSO" userId="25be97ea-9427-49a6-8ede-e8f1362603a2" providerId="ADAL" clId="{77FABCEE-A9F7-43C7-A1A4-0319E0210DF6}" dt="2025-04-09T15:58:13.713" v="1826" actId="113"/>
          <ac:spMkLst>
            <pc:docMk/>
            <pc:sldMk cId="3144062057" sldId="317"/>
            <ac:spMk id="3" creationId="{69064B37-64F8-4F19-99B3-A3461F761A31}"/>
          </ac:spMkLst>
        </pc:spChg>
        <pc:picChg chg="add mod">
          <ac:chgData name="RICCARDO CONVERSO" userId="25be97ea-9427-49a6-8ede-e8f1362603a2" providerId="ADAL" clId="{77FABCEE-A9F7-43C7-A1A4-0319E0210DF6}" dt="2025-04-09T16:00:29.938" v="1846" actId="1076"/>
          <ac:picMkLst>
            <pc:docMk/>
            <pc:sldMk cId="3144062057" sldId="317"/>
            <ac:picMk id="8" creationId="{B1DF6091-3A09-1D58-5B3E-0F8FD3429DE6}"/>
          </ac:picMkLst>
        </pc:picChg>
        <pc:picChg chg="add mod modCrop">
          <ac:chgData name="RICCARDO CONVERSO" userId="25be97ea-9427-49a6-8ede-e8f1362603a2" providerId="ADAL" clId="{77FABCEE-A9F7-43C7-A1A4-0319E0210DF6}" dt="2025-04-09T15:58:29.979" v="1830" actId="1076"/>
          <ac:picMkLst>
            <pc:docMk/>
            <pc:sldMk cId="3144062057" sldId="317"/>
            <ac:picMk id="10" creationId="{37BFBFA7-CB2F-6DDF-D738-A4E97F3E8A40}"/>
          </ac:picMkLst>
        </pc:picChg>
        <pc:picChg chg="add mod modCrop">
          <ac:chgData name="RICCARDO CONVERSO" userId="25be97ea-9427-49a6-8ede-e8f1362603a2" providerId="ADAL" clId="{77FABCEE-A9F7-43C7-A1A4-0319E0210DF6}" dt="2025-04-09T15:59:12.220" v="1844" actId="1076"/>
          <ac:picMkLst>
            <pc:docMk/>
            <pc:sldMk cId="3144062057" sldId="317"/>
            <ac:picMk id="14" creationId="{D77FCDC4-B110-7469-6F59-5163E4C9E7AC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 dirty="0"/>
              <a:t>RMSE</a:t>
            </a:r>
            <a:r>
              <a:rPr lang="it-IT" baseline="0" dirty="0"/>
              <a:t> MAE CV</a:t>
            </a:r>
            <a:endParaRPr lang="it-IT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Foglio1!$A$2:$A$4</c:f>
              <c:strCache>
                <c:ptCount val="3"/>
                <c:pt idx="0">
                  <c:v>KNNBaseline</c:v>
                </c:pt>
                <c:pt idx="1">
                  <c:v>SVD</c:v>
                </c:pt>
                <c:pt idx="2">
                  <c:v>KNNBasic</c:v>
                </c:pt>
              </c:strCache>
            </c:strRef>
          </c:cat>
          <c:val>
            <c:numRef>
              <c:f>Foglio1!$B$2:$B$4</c:f>
              <c:numCache>
                <c:formatCode>General</c:formatCode>
                <c:ptCount val="3"/>
                <c:pt idx="0">
                  <c:v>0.86798299999999995</c:v>
                </c:pt>
                <c:pt idx="1">
                  <c:v>0.84793600000000002</c:v>
                </c:pt>
                <c:pt idx="2">
                  <c:v>0.967171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02-46DB-AE28-ECC2D1E68E53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Foglio1!$A$2:$A$4</c:f>
              <c:strCache>
                <c:ptCount val="3"/>
                <c:pt idx="0">
                  <c:v>KNNBaseline</c:v>
                </c:pt>
                <c:pt idx="1">
                  <c:v>SVD</c:v>
                </c:pt>
                <c:pt idx="2">
                  <c:v>KNNBasic</c:v>
                </c:pt>
              </c:strCache>
            </c:strRef>
          </c:cat>
          <c:val>
            <c:numRef>
              <c:f>Foglio1!$C$2:$C$4</c:f>
              <c:numCache>
                <c:formatCode>General</c:formatCode>
                <c:ptCount val="3"/>
                <c:pt idx="0">
                  <c:v>0.66654199999999997</c:v>
                </c:pt>
                <c:pt idx="1">
                  <c:v>0.64983299999999999</c:v>
                </c:pt>
                <c:pt idx="2">
                  <c:v>0.74800800000000001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202-46DB-AE28-ECC2D1E68E53}"/>
            </c:ext>
          </c:extLst>
        </c:ser>
        <c:ser>
          <c:idx val="2"/>
          <c:order val="2"/>
          <c:tx>
            <c:strRef>
              <c:f>Foglio1!$D$1</c:f>
              <c:strCache>
                <c:ptCount val="1"/>
                <c:pt idx="0">
                  <c:v>CV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Foglio1!$A$2:$A$4</c:f>
              <c:strCache>
                <c:ptCount val="3"/>
                <c:pt idx="0">
                  <c:v>KNNBaseline</c:v>
                </c:pt>
                <c:pt idx="1">
                  <c:v>SVD</c:v>
                </c:pt>
                <c:pt idx="2">
                  <c:v>KNNBasic</c:v>
                </c:pt>
              </c:strCache>
            </c:strRef>
          </c:cat>
          <c:val>
            <c:numRef>
              <c:f>Foglio1!$D$2:$D$4</c:f>
              <c:numCache>
                <c:formatCode>General</c:formatCode>
                <c:ptCount val="3"/>
                <c:pt idx="0">
                  <c:v>0.881629</c:v>
                </c:pt>
                <c:pt idx="1">
                  <c:v>0.86388699999999996</c:v>
                </c:pt>
                <c:pt idx="2">
                  <c:v>0.98102800000000001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202-46DB-AE28-ECC2D1E68E5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900657023"/>
        <c:axId val="1900674303"/>
      </c:barChart>
      <c:catAx>
        <c:axId val="19006570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900674303"/>
        <c:crosses val="autoZero"/>
        <c:auto val="1"/>
        <c:lblAlgn val="ctr"/>
        <c:lblOffset val="100"/>
        <c:noMultiLvlLbl val="0"/>
      </c:catAx>
      <c:valAx>
        <c:axId val="19006743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9006570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 dirty="0"/>
              <a:t>Precision e Recall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Foglio1!$A$2:$A$4</c:f>
              <c:strCache>
                <c:ptCount val="3"/>
                <c:pt idx="0">
                  <c:v>KNNBaseline</c:v>
                </c:pt>
                <c:pt idx="1">
                  <c:v>SVD</c:v>
                </c:pt>
                <c:pt idx="2">
                  <c:v>KNNBasic</c:v>
                </c:pt>
              </c:strCache>
            </c:strRef>
          </c:cat>
          <c:val>
            <c:numRef>
              <c:f>Foglio1!$B$2:$B$4</c:f>
              <c:numCache>
                <c:formatCode>General</c:formatCode>
                <c:ptCount val="3"/>
                <c:pt idx="0">
                  <c:v>0.66610000000000003</c:v>
                </c:pt>
                <c:pt idx="1">
                  <c:v>0.7016</c:v>
                </c:pt>
                <c:pt idx="2">
                  <c:v>0.65049999999999997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02-46DB-AE28-ECC2D1E68E53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Foglio1!$A$2:$A$4</c:f>
              <c:strCache>
                <c:ptCount val="3"/>
                <c:pt idx="0">
                  <c:v>KNNBaseline</c:v>
                </c:pt>
                <c:pt idx="1">
                  <c:v>SVD</c:v>
                </c:pt>
                <c:pt idx="2">
                  <c:v>KNNBasic</c:v>
                </c:pt>
              </c:strCache>
            </c:strRef>
          </c:cat>
          <c:val>
            <c:numRef>
              <c:f>Foglio1!$C$2:$C$4</c:f>
              <c:numCache>
                <c:formatCode>General</c:formatCode>
                <c:ptCount val="3"/>
                <c:pt idx="0">
                  <c:v>0.67920000000000003</c:v>
                </c:pt>
                <c:pt idx="1">
                  <c:v>0.70520000000000005</c:v>
                </c:pt>
                <c:pt idx="2">
                  <c:v>0.66779999999999995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202-46DB-AE28-ECC2D1E68E5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900657023"/>
        <c:axId val="1900674303"/>
      </c:barChart>
      <c:catAx>
        <c:axId val="19006570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900674303"/>
        <c:crosses val="autoZero"/>
        <c:auto val="1"/>
        <c:lblAlgn val="ctr"/>
        <c:lblOffset val="100"/>
        <c:noMultiLvlLbl val="0"/>
      </c:catAx>
      <c:valAx>
        <c:axId val="19006743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9006570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0368CE-F719-498F-A272-8B045D254BB3}" type="datetimeFigureOut">
              <a:rPr lang="it-IT" smtClean="0"/>
              <a:t>11/04/2025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68910E-487B-424C-8927-8178C8CAD09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7140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68910E-487B-424C-8927-8178C8CAD09D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289799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B3C17-8910-454B-B41C-5CB13DADDF6D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8821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FB4D88A3-DB79-4BD0-872A-A90F166F7504}" type="datetimeFigureOut">
              <a:rPr lang="it-IT" smtClean="0"/>
              <a:t>11/04/2025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C70B364-D932-43ED-9F97-274B95E768AB}" type="slidenum">
              <a:rPr lang="it-IT" smtClean="0"/>
              <a:t>‹N›</a:t>
            </a:fld>
            <a:endParaRPr lang="it-IT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41103065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D88A3-DB79-4BD0-872A-A90F166F7504}" type="datetimeFigureOut">
              <a:rPr lang="it-IT" smtClean="0"/>
              <a:t>11/04/2025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0B364-D932-43ED-9F97-274B95E768A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75165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B4D88A3-DB79-4BD0-872A-A90F166F7504}" type="datetimeFigureOut">
              <a:rPr lang="it-IT" smtClean="0"/>
              <a:t>11/04/2025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C70B364-D932-43ED-9F97-274B95E768AB}" type="slidenum">
              <a:rPr lang="it-IT" smtClean="0"/>
              <a:t>‹N›</a:t>
            </a:fld>
            <a:endParaRPr lang="it-IT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5469174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D88A3-DB79-4BD0-872A-A90F166F7504}" type="datetimeFigureOut">
              <a:rPr lang="it-IT" smtClean="0"/>
              <a:t>11/04/2025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0B364-D932-43ED-9F97-274B95E768A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3200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D88A3-DB79-4BD0-872A-A90F166F7504}" type="datetimeFigureOut">
              <a:rPr lang="it-IT" smtClean="0"/>
              <a:t>11/04/2025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0B364-D932-43ED-9F97-274B95E768A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4166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D88A3-DB79-4BD0-872A-A90F166F7504}" type="datetimeFigureOut">
              <a:rPr lang="it-IT" smtClean="0"/>
              <a:t>11/04/2025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0B364-D932-43ED-9F97-274B95E768A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08818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D88A3-DB79-4BD0-872A-A90F166F7504}" type="datetimeFigureOut">
              <a:rPr lang="it-IT" smtClean="0"/>
              <a:t>11/04/2025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0B364-D932-43ED-9F97-274B95E768A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3807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B4D88A3-DB79-4BD0-872A-A90F166F7504}" type="datetimeFigureOut">
              <a:rPr lang="it-IT" smtClean="0"/>
              <a:t>11/04/2025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C70B364-D932-43ED-9F97-274B95E768AB}" type="slidenum">
              <a:rPr lang="it-IT" smtClean="0"/>
              <a:t>‹N›</a:t>
            </a:fld>
            <a:endParaRPr lang="it-IT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37915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B4D88A3-DB79-4BD0-872A-A90F166F7504}" type="datetimeFigureOut">
              <a:rPr lang="it-IT" smtClean="0"/>
              <a:t>11/04/2025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C70B364-D932-43ED-9F97-274B95E768AB}" type="slidenum">
              <a:rPr lang="it-IT" smtClean="0"/>
              <a:t>‹N›</a:t>
            </a:fld>
            <a:endParaRPr lang="it-IT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2927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D88A3-DB79-4BD0-872A-A90F166F7504}" type="datetimeFigureOut">
              <a:rPr lang="it-IT" smtClean="0"/>
              <a:t>11/04/2025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0B364-D932-43ED-9F97-274B95E768A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73996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D88A3-DB79-4BD0-872A-A90F166F7504}" type="datetimeFigureOut">
              <a:rPr lang="it-IT" smtClean="0"/>
              <a:t>11/04/2025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0B364-D932-43ED-9F97-274B95E768A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1149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FB4D88A3-DB79-4BD0-872A-A90F166F7504}" type="datetimeFigureOut">
              <a:rPr lang="it-IT" smtClean="0"/>
              <a:t>11/04/2025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C70B364-D932-43ED-9F97-274B95E768AB}" type="slidenum">
              <a:rPr lang="it-IT" smtClean="0"/>
              <a:t>‹N›</a:t>
            </a:fld>
            <a:endParaRPr lang="it-IT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03256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isinflab/LODrecsys-datasets/blob/master/Movielens1M/README.md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853E4B-D23D-9B61-FFF7-332467B303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PROGETTO INTELLIGENT WEB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A4C7889-BA1E-E2E3-3871-D756D41360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Riccardo Converso</a:t>
            </a:r>
          </a:p>
          <a:p>
            <a:r>
              <a:rPr lang="it-IT" dirty="0"/>
              <a:t>Antonio Di Geronimo</a:t>
            </a:r>
          </a:p>
        </p:txBody>
      </p:sp>
      <p:pic>
        <p:nvPicPr>
          <p:cNvPr id="1026" name="Picture 2" descr="logo-federico-ii-blu – Scritture in transito">
            <a:extLst>
              <a:ext uri="{FF2B5EF4-FFF2-40B4-BE49-F238E27FC236}">
                <a16:creationId xmlns:a16="http://schemas.microsoft.com/office/drawing/2014/main" id="{5902410C-BA87-6333-F725-5821B9E749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821" y="5337791"/>
            <a:ext cx="1270307" cy="1265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7244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90E731-E00F-B133-1DBF-0BD005591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Obiettivi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7BB8538-2A83-3881-9B8C-B631FA0BB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Realizzare un </a:t>
            </a:r>
            <a:r>
              <a:rPr lang="it-IT" b="1" dirty="0" err="1"/>
              <a:t>Recommender</a:t>
            </a:r>
            <a:r>
              <a:rPr lang="it-IT" b="1" dirty="0"/>
              <a:t> System</a:t>
            </a:r>
            <a:r>
              <a:rPr lang="it-IT" dirty="0"/>
              <a:t> sul dominio dei film</a:t>
            </a:r>
          </a:p>
          <a:p>
            <a:r>
              <a:rPr lang="it-IT" dirty="0"/>
              <a:t>Basato sul dataset </a:t>
            </a:r>
            <a:r>
              <a:rPr lang="it-IT" b="1" i="1" dirty="0" err="1"/>
              <a:t>MovieLensSmall</a:t>
            </a:r>
            <a:endParaRPr lang="it-IT" b="1" i="1" dirty="0"/>
          </a:p>
          <a:p>
            <a:r>
              <a:rPr lang="it-IT" dirty="0"/>
              <a:t>Raccogliendo ed elaborando le informazioni da </a:t>
            </a:r>
            <a:r>
              <a:rPr lang="it-IT" b="1" i="1" dirty="0" err="1"/>
              <a:t>Dbpedia</a:t>
            </a:r>
            <a:r>
              <a:rPr lang="it-IT" dirty="0"/>
              <a:t> mediante query </a:t>
            </a:r>
            <a:r>
              <a:rPr lang="it-IT" b="1" dirty="0"/>
              <a:t>SPARQL</a:t>
            </a:r>
          </a:p>
          <a:p>
            <a:r>
              <a:rPr lang="it-IT" dirty="0"/>
              <a:t>Il framework utilizza tecniche di </a:t>
            </a:r>
            <a:r>
              <a:rPr lang="it-IT" b="1" dirty="0"/>
              <a:t>MAB</a:t>
            </a:r>
            <a:r>
              <a:rPr lang="it-IT" dirty="0"/>
              <a:t> per mediare il problema di </a:t>
            </a:r>
            <a:r>
              <a:rPr lang="it-IT" i="1" dirty="0" err="1"/>
              <a:t>exploration</a:t>
            </a:r>
            <a:r>
              <a:rPr lang="it-IT" i="1" dirty="0"/>
              <a:t> vs exploitation</a:t>
            </a:r>
          </a:p>
          <a:p>
            <a:r>
              <a:rPr lang="it-IT" b="1" dirty="0"/>
              <a:t>Verifiche sperimentali</a:t>
            </a:r>
            <a:r>
              <a:rPr lang="it-IT" dirty="0"/>
              <a:t> al fine di fornire indicazioni sulla accuratezza del framework</a:t>
            </a:r>
            <a:endParaRPr lang="it-IT" i="1" dirty="0"/>
          </a:p>
        </p:txBody>
      </p:sp>
    </p:spTree>
    <p:extLst>
      <p:ext uri="{BB962C8B-B14F-4D97-AF65-F5344CB8AC3E}">
        <p14:creationId xmlns:p14="http://schemas.microsoft.com/office/powerpoint/2010/main" val="4015585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18544-2599-536C-3889-B8E928A66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C40ACD-48ED-ECBB-D7E4-BEB7094F3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Obiettivi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E22FA3E-F2FB-E7B1-4212-0167406DC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Realizzare un sistema di raccomandazioni sfruttando tecniche differenti di </a:t>
            </a:r>
            <a:r>
              <a:rPr lang="it-IT" b="1" dirty="0"/>
              <a:t>collaborative filtering</a:t>
            </a:r>
          </a:p>
          <a:p>
            <a:r>
              <a:rPr lang="it-IT" dirty="0"/>
              <a:t>Abbiamo preso ispirazione dai più famosi servizi di streaming sul mercato cercando di replicare le categorie più famose di suggerimenti offerti agli utenti</a:t>
            </a:r>
          </a:p>
          <a:p>
            <a:r>
              <a:rPr lang="it-IT" dirty="0"/>
              <a:t>Come: Per Te, Scopri di Più, «Perché ti piacciono i film d’</a:t>
            </a:r>
            <a:r>
              <a:rPr lang="it-IT" b="1" dirty="0"/>
              <a:t>Azione</a:t>
            </a:r>
            <a:r>
              <a:rPr lang="it-IT" dirty="0"/>
              <a:t>», «Perché ti piace </a:t>
            </a:r>
            <a:r>
              <a:rPr lang="it-IT" b="1" dirty="0"/>
              <a:t>Leonardo Di Caprio</a:t>
            </a:r>
            <a:r>
              <a:rPr lang="it-IT" dirty="0"/>
              <a:t>», «Perché hai visto </a:t>
            </a:r>
            <a:r>
              <a:rPr lang="it-IT" b="1" dirty="0"/>
              <a:t>Titanic</a:t>
            </a:r>
            <a:r>
              <a:rPr lang="it-IT" dirty="0"/>
              <a:t>» </a:t>
            </a:r>
          </a:p>
        </p:txBody>
      </p:sp>
    </p:spTree>
    <p:extLst>
      <p:ext uri="{BB962C8B-B14F-4D97-AF65-F5344CB8AC3E}">
        <p14:creationId xmlns:p14="http://schemas.microsoft.com/office/powerpoint/2010/main" val="758107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10DA1-C0C1-BC3E-FD75-FE34B1467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1BBBADB-39A3-43D1-32E9-6CC1B4797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Tecniche utilizzate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10F6500-9072-98F1-22EE-F578B0FDA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Model </a:t>
            </a:r>
            <a:r>
              <a:rPr lang="it-IT" dirty="0" err="1"/>
              <a:t>based</a:t>
            </a:r>
            <a:r>
              <a:rPr lang="it-IT" dirty="0"/>
              <a:t> Collaborative Filtering: </a:t>
            </a:r>
            <a:r>
              <a:rPr lang="it-IT" b="1" dirty="0" err="1"/>
              <a:t>Latent</a:t>
            </a:r>
            <a:r>
              <a:rPr lang="it-IT" b="1" dirty="0"/>
              <a:t> </a:t>
            </a:r>
            <a:r>
              <a:rPr lang="it-IT" b="1" dirty="0" err="1"/>
              <a:t>Factor</a:t>
            </a:r>
            <a:r>
              <a:rPr lang="it-IT" b="1" dirty="0"/>
              <a:t> Model SVD</a:t>
            </a:r>
          </a:p>
          <a:p>
            <a:r>
              <a:rPr lang="it-IT" dirty="0"/>
              <a:t>Exploration and Exploitation Balance: </a:t>
            </a:r>
            <a:r>
              <a:rPr lang="it-IT" b="1" dirty="0"/>
              <a:t>UCB </a:t>
            </a:r>
            <a:r>
              <a:rPr lang="it-IT" b="1" dirty="0" err="1"/>
              <a:t>Algorithm</a:t>
            </a:r>
            <a:endParaRPr lang="it-IT" b="1" dirty="0"/>
          </a:p>
          <a:p>
            <a:r>
              <a:rPr lang="it-IT" dirty="0" err="1"/>
              <a:t>Neighborhood-based</a:t>
            </a:r>
            <a:r>
              <a:rPr lang="it-IT" dirty="0"/>
              <a:t> Collaborative Filtering </a:t>
            </a:r>
            <a:r>
              <a:rPr lang="it-IT" b="1" dirty="0"/>
              <a:t>Item-</a:t>
            </a:r>
            <a:r>
              <a:rPr lang="it-IT" b="1" dirty="0" err="1"/>
              <a:t>based</a:t>
            </a:r>
            <a:endParaRPr lang="it-IT" b="1" dirty="0"/>
          </a:p>
          <a:p>
            <a:r>
              <a:rPr lang="it-IT" dirty="0">
                <a:solidFill>
                  <a:schemeClr val="bg1">
                    <a:lumMod val="50000"/>
                  </a:schemeClr>
                </a:solidFill>
              </a:rPr>
              <a:t>Not </a:t>
            </a:r>
            <a:r>
              <a:rPr lang="it-IT" dirty="0" err="1">
                <a:solidFill>
                  <a:schemeClr val="bg1">
                    <a:lumMod val="50000"/>
                  </a:schemeClr>
                </a:solidFill>
              </a:rPr>
              <a:t>Personalized</a:t>
            </a:r>
            <a:r>
              <a:rPr lang="it-IT" dirty="0"/>
              <a:t> </a:t>
            </a:r>
            <a:r>
              <a:rPr lang="it-IT" b="1" dirty="0" err="1"/>
              <a:t>Popularity</a:t>
            </a:r>
            <a:r>
              <a:rPr lang="it-IT" b="1" dirty="0"/>
              <a:t> </a:t>
            </a:r>
            <a:r>
              <a:rPr lang="it-IT" b="1" dirty="0" err="1"/>
              <a:t>Based</a:t>
            </a:r>
            <a:r>
              <a:rPr lang="it-IT" b="1" dirty="0"/>
              <a:t> </a:t>
            </a:r>
            <a:r>
              <a:rPr lang="it-IT" b="1" dirty="0" err="1"/>
              <a:t>Recommendation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1221338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41BA38D-ECDE-BBE5-A287-4829C03E1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456" y="655857"/>
            <a:ext cx="9601200" cy="1485900"/>
          </a:xfrm>
        </p:spPr>
        <p:txBody>
          <a:bodyPr/>
          <a:lstStyle/>
          <a:p>
            <a:r>
              <a:rPr lang="it-IT" dirty="0"/>
              <a:t>L’idea</a:t>
            </a:r>
          </a:p>
        </p:txBody>
      </p:sp>
      <p:pic>
        <p:nvPicPr>
          <p:cNvPr id="5" name="Segnaposto contenuto 4" descr="Immagine che contiene nero, oscurità&#10;&#10;Il contenuto generato dall'IA potrebbe non essere corretto.">
            <a:extLst>
              <a:ext uri="{FF2B5EF4-FFF2-40B4-BE49-F238E27FC236}">
                <a16:creationId xmlns:a16="http://schemas.microsoft.com/office/drawing/2014/main" id="{6385846F-E381-BBC0-9CA5-E3A579F5B2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344" y="1714732"/>
            <a:ext cx="955308" cy="955308"/>
          </a:xfrm>
        </p:spPr>
      </p:pic>
      <p:pic>
        <p:nvPicPr>
          <p:cNvPr id="7" name="Immagine 6" descr="Immagine che contiene Carattere, Elementi grafici, tipografia, logo&#10;&#10;Il contenuto generato dall'IA potrebbe non essere corretto.">
            <a:extLst>
              <a:ext uri="{FF2B5EF4-FFF2-40B4-BE49-F238E27FC236}">
                <a16:creationId xmlns:a16="http://schemas.microsoft.com/office/drawing/2014/main" id="{ACC5AB44-68DB-12E5-1E65-14C9E77A0C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713" y="2670040"/>
            <a:ext cx="1512569" cy="415077"/>
          </a:xfrm>
          <a:prstGeom prst="rect">
            <a:avLst/>
          </a:prstGeom>
        </p:spPr>
      </p:pic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DD96FCB4-8D59-F981-9B40-4DF8100BAF7B}"/>
              </a:ext>
            </a:extLst>
          </p:cNvPr>
          <p:cNvSpPr/>
          <p:nvPr/>
        </p:nvSpPr>
        <p:spPr>
          <a:xfrm>
            <a:off x="4916487" y="1774136"/>
            <a:ext cx="2495550" cy="94297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4" name="Immagine 13" descr="Immagine che contiene nero, oscurità&#10;&#10;Il contenuto generato dall'IA potrebbe non essere corretto.">
            <a:extLst>
              <a:ext uri="{FF2B5EF4-FFF2-40B4-BE49-F238E27FC236}">
                <a16:creationId xmlns:a16="http://schemas.microsoft.com/office/drawing/2014/main" id="{9EF24FC0-C41A-E39D-A92F-12B97A6422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4872" y="1662277"/>
            <a:ext cx="776540" cy="776540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42773B38-5CD4-4D83-7861-9834FF2A38EB}"/>
              </a:ext>
            </a:extLst>
          </p:cNvPr>
          <p:cNvSpPr txBox="1"/>
          <p:nvPr/>
        </p:nvSpPr>
        <p:spPr>
          <a:xfrm>
            <a:off x="9794810" y="2542686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URI di 10 film</a:t>
            </a: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D0705235-8FD1-BD4F-50B4-C6350E5F9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1304" y="4699887"/>
            <a:ext cx="1868645" cy="1274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Immagine 16" descr="Immagine che contiene testo, schermata, grafica, Marchio&#10;&#10;Il contenuto generato dall'IA potrebbe non essere corretto.">
            <a:extLst>
              <a:ext uri="{FF2B5EF4-FFF2-40B4-BE49-F238E27FC236}">
                <a16:creationId xmlns:a16="http://schemas.microsoft.com/office/drawing/2014/main" id="{076C1E77-92F3-6CCB-8131-8846E812CB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26"/>
          <a:stretch/>
        </p:blipFill>
        <p:spPr>
          <a:xfrm>
            <a:off x="2365121" y="4716244"/>
            <a:ext cx="4288113" cy="173265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B68C9A8B-8021-2EFE-4D4D-13CEC23C6ED4}"/>
              </a:ext>
            </a:extLst>
          </p:cNvPr>
          <p:cNvCxnSpPr/>
          <p:nvPr/>
        </p:nvCxnSpPr>
        <p:spPr>
          <a:xfrm>
            <a:off x="2670048" y="2221992"/>
            <a:ext cx="1764792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A8CF09BA-7576-95BF-1792-DEF280CA24AE}"/>
              </a:ext>
            </a:extLst>
          </p:cNvPr>
          <p:cNvCxnSpPr/>
          <p:nvPr/>
        </p:nvCxnSpPr>
        <p:spPr>
          <a:xfrm>
            <a:off x="7906512" y="2221992"/>
            <a:ext cx="1764792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A9F224EA-4E9D-978C-824A-5350154699AE}"/>
              </a:ext>
            </a:extLst>
          </p:cNvPr>
          <p:cNvCxnSpPr>
            <a:cxnSpLocks/>
          </p:cNvCxnSpPr>
          <p:nvPr/>
        </p:nvCxnSpPr>
        <p:spPr>
          <a:xfrm>
            <a:off x="10590338" y="3017520"/>
            <a:ext cx="0" cy="1380744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ttangolo con angoli arrotondati 24">
            <a:extLst>
              <a:ext uri="{FF2B5EF4-FFF2-40B4-BE49-F238E27FC236}">
                <a16:creationId xmlns:a16="http://schemas.microsoft.com/office/drawing/2014/main" id="{ACF88E28-17D3-A1D3-5585-488CE5C1F91B}"/>
              </a:ext>
            </a:extLst>
          </p:cNvPr>
          <p:cNvSpPr/>
          <p:nvPr/>
        </p:nvSpPr>
        <p:spPr>
          <a:xfrm>
            <a:off x="10222992" y="3355848"/>
            <a:ext cx="740664" cy="448056"/>
          </a:xfrm>
          <a:prstGeom prst="roundRect">
            <a:avLst/>
          </a:prstGeom>
          <a:solidFill>
            <a:srgbClr val="EFED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105C1B8A-911B-FDF0-1793-8BC8F399C6A0}"/>
              </a:ext>
            </a:extLst>
          </p:cNvPr>
          <p:cNvSpPr txBox="1"/>
          <p:nvPr/>
        </p:nvSpPr>
        <p:spPr>
          <a:xfrm>
            <a:off x="9809574" y="3410599"/>
            <a:ext cx="15921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Query SPARQL</a:t>
            </a:r>
          </a:p>
        </p:txBody>
      </p: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B25E471C-CC27-CFFE-1EB2-48141E4806B0}"/>
              </a:ext>
            </a:extLst>
          </p:cNvPr>
          <p:cNvCxnSpPr>
            <a:cxnSpLocks/>
          </p:cNvCxnSpPr>
          <p:nvPr/>
        </p:nvCxnSpPr>
        <p:spPr>
          <a:xfrm flipH="1">
            <a:off x="7152132" y="5666232"/>
            <a:ext cx="206044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D3FE3498-995F-F2C9-29C0-18AE26AE79A8}"/>
              </a:ext>
            </a:extLst>
          </p:cNvPr>
          <p:cNvSpPr txBox="1"/>
          <p:nvPr/>
        </p:nvSpPr>
        <p:spPr>
          <a:xfrm>
            <a:off x="4998314" y="2067344"/>
            <a:ext cx="23294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Recommender</a:t>
            </a:r>
            <a:r>
              <a:rPr lang="it-IT" sz="16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System</a:t>
            </a:r>
          </a:p>
        </p:txBody>
      </p:sp>
    </p:spTree>
    <p:extLst>
      <p:ext uri="{BB962C8B-B14F-4D97-AF65-F5344CB8AC3E}">
        <p14:creationId xmlns:p14="http://schemas.microsoft.com/office/powerpoint/2010/main" val="3696217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0B01E8-B466-C25C-3D7F-F131C185B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469" y="3119828"/>
            <a:ext cx="6001062" cy="618344"/>
          </a:xfrm>
        </p:spPr>
        <p:txBody>
          <a:bodyPr>
            <a:normAutofit fontScale="90000"/>
          </a:bodyPr>
          <a:lstStyle/>
          <a:p>
            <a:r>
              <a:rPr lang="it-IT" dirty="0"/>
              <a:t>PRE-PROCESSING DEI DATI</a:t>
            </a:r>
          </a:p>
        </p:txBody>
      </p:sp>
    </p:spTree>
    <p:extLst>
      <p:ext uri="{BB962C8B-B14F-4D97-AF65-F5344CB8AC3E}">
        <p14:creationId xmlns:p14="http://schemas.microsoft.com/office/powerpoint/2010/main" val="3202712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6DB6D9C-DB1B-DF42-2968-FEB13925E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Pre</a:t>
            </a:r>
            <a:r>
              <a:rPr lang="it-IT" dirty="0"/>
              <a:t>-processing dei dati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0D94890-B3C2-D93E-3E93-ACB86DB06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105656"/>
          </a:xfrm>
        </p:spPr>
        <p:txBody>
          <a:bodyPr>
            <a:normAutofit/>
          </a:bodyPr>
          <a:lstStyle/>
          <a:p>
            <a:r>
              <a:rPr lang="it-IT" dirty="0"/>
              <a:t>Dai dati forniti da </a:t>
            </a:r>
            <a:r>
              <a:rPr lang="it-IT" b="1" dirty="0" err="1"/>
              <a:t>MovieLens</a:t>
            </a:r>
            <a:r>
              <a:rPr lang="it-IT" dirty="0"/>
              <a:t> otteniamo </a:t>
            </a:r>
            <a:r>
              <a:rPr lang="it-IT" i="1" dirty="0"/>
              <a:t>ratings.csv </a:t>
            </a:r>
            <a:r>
              <a:rPr lang="it-IT" dirty="0"/>
              <a:t>e </a:t>
            </a:r>
            <a:r>
              <a:rPr lang="it-IT" i="1" dirty="0"/>
              <a:t>movies.csv</a:t>
            </a:r>
          </a:p>
          <a:p>
            <a:endParaRPr lang="it-IT" i="1" dirty="0"/>
          </a:p>
          <a:p>
            <a:endParaRPr lang="it-IT" i="1" dirty="0"/>
          </a:p>
          <a:p>
            <a:endParaRPr lang="it-IT" i="1" dirty="0"/>
          </a:p>
          <a:p>
            <a:endParaRPr lang="it-IT" b="1" dirty="0"/>
          </a:p>
          <a:p>
            <a:r>
              <a:rPr lang="it-IT" b="1" dirty="0"/>
              <a:t>Problema!</a:t>
            </a:r>
            <a:r>
              <a:rPr lang="it-IT" dirty="0"/>
              <a:t> La matrice dei ratings risulta essere molto sparsa </a:t>
            </a:r>
            <a:r>
              <a:rPr lang="it-IT" dirty="0">
                <a:sym typeface="Symbol" panose="05050102010706020507" pitchFamily="18" charset="2"/>
              </a:rPr>
              <a:t> </a:t>
            </a:r>
            <a:r>
              <a:rPr lang="it-IT" b="1" dirty="0">
                <a:sym typeface="Symbol" panose="05050102010706020507" pitchFamily="18" charset="2"/>
              </a:rPr>
              <a:t>98%</a:t>
            </a:r>
          </a:p>
          <a:p>
            <a:r>
              <a:rPr lang="it-IT" b="1" u="sng" dirty="0">
                <a:sym typeface="Symbol" panose="05050102010706020507" pitchFamily="18" charset="2"/>
              </a:rPr>
              <a:t>Soluzione:</a:t>
            </a:r>
            <a:r>
              <a:rPr lang="it-IT" dirty="0">
                <a:sym typeface="Symbol" panose="05050102010706020507" pitchFamily="18" charset="2"/>
              </a:rPr>
              <a:t> Filtraggio dei dati rimuovendo utenti che hanno fornito meno di 200 valutazioni e i film valutati meno di 10 volte</a:t>
            </a:r>
          </a:p>
          <a:p>
            <a:r>
              <a:rPr lang="it-IT" dirty="0">
                <a:sym typeface="Symbol" panose="05050102010706020507" pitchFamily="18" charset="2"/>
              </a:rPr>
              <a:t>Dopo questa modifica la matrice risultante risulta meno sparsa  </a:t>
            </a:r>
            <a:r>
              <a:rPr lang="it-IT" b="1" dirty="0">
                <a:sym typeface="Symbol" panose="05050102010706020507" pitchFamily="18" charset="2"/>
              </a:rPr>
              <a:t>79%</a:t>
            </a:r>
          </a:p>
          <a:p>
            <a:endParaRPr lang="it-IT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9E718046-926F-068B-BA24-965B83713A59}"/>
              </a:ext>
            </a:extLst>
          </p:cNvPr>
          <p:cNvSpPr txBox="1">
            <a:spLocks/>
          </p:cNvSpPr>
          <p:nvPr/>
        </p:nvSpPr>
        <p:spPr>
          <a:xfrm>
            <a:off x="4198620" y="2430780"/>
            <a:ext cx="3794760" cy="1645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Franklin Gothic Book" panose="020B0503020102020204" pitchFamily="34" charset="0"/>
              <a:buNone/>
            </a:pPr>
            <a:endParaRPr lang="it-IT" dirty="0"/>
          </a:p>
          <a:p>
            <a:pPr marL="0" indent="0">
              <a:lnSpc>
                <a:spcPct val="100000"/>
              </a:lnSpc>
              <a:buFont typeface="Franklin Gothic Book" panose="020B0503020102020204" pitchFamily="34" charset="0"/>
              <a:buNone/>
            </a:pPr>
            <a:r>
              <a:rPr lang="it-IT" sz="1600" dirty="0" err="1"/>
              <a:t>userID</a:t>
            </a:r>
            <a:r>
              <a:rPr lang="it-IT" sz="1600" dirty="0"/>
              <a:t>: 			</a:t>
            </a:r>
            <a:r>
              <a:rPr lang="it-IT" sz="1600" b="1" dirty="0"/>
              <a:t>610</a:t>
            </a:r>
          </a:p>
          <a:p>
            <a:pPr marL="0" indent="0">
              <a:lnSpc>
                <a:spcPct val="100000"/>
              </a:lnSpc>
              <a:buFont typeface="Franklin Gothic Book" panose="020B0503020102020204" pitchFamily="34" charset="0"/>
              <a:buNone/>
            </a:pPr>
            <a:r>
              <a:rPr lang="it-IT" sz="1600" dirty="0" err="1"/>
              <a:t>movieId</a:t>
            </a:r>
            <a:r>
              <a:rPr lang="it-IT" sz="1600" dirty="0"/>
              <a:t>:			</a:t>
            </a:r>
            <a:r>
              <a:rPr lang="it-IT" sz="1600" b="1" dirty="0"/>
              <a:t>9724</a:t>
            </a:r>
          </a:p>
          <a:p>
            <a:pPr marL="0" indent="0">
              <a:lnSpc>
                <a:spcPct val="100000"/>
              </a:lnSpc>
              <a:buFont typeface="Franklin Gothic Book" panose="020B0503020102020204" pitchFamily="34" charset="0"/>
              <a:buNone/>
            </a:pPr>
            <a:r>
              <a:rPr lang="it-IT" sz="1600" dirty="0" err="1"/>
              <a:t>Different</a:t>
            </a:r>
            <a:r>
              <a:rPr lang="it-IT" sz="1600" dirty="0"/>
              <a:t> </a:t>
            </a:r>
            <a:r>
              <a:rPr lang="it-IT" sz="1600" dirty="0" err="1"/>
              <a:t>genres</a:t>
            </a:r>
            <a:r>
              <a:rPr lang="it-IT" sz="1600" dirty="0"/>
              <a:t>:		</a:t>
            </a:r>
            <a:r>
              <a:rPr lang="it-IT" sz="1600" b="1" dirty="0"/>
              <a:t>951</a:t>
            </a:r>
            <a:endParaRPr lang="it-IT" sz="1600" dirty="0"/>
          </a:p>
        </p:txBody>
      </p:sp>
    </p:spTree>
    <p:extLst>
      <p:ext uri="{BB962C8B-B14F-4D97-AF65-F5344CB8AC3E}">
        <p14:creationId xmlns:p14="http://schemas.microsoft.com/office/powerpoint/2010/main" val="507334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D8417-49D4-53D1-7425-F2100315B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F556DA-D7E7-C71E-DDEF-E904F7B50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Pre</a:t>
            </a:r>
            <a:r>
              <a:rPr lang="it-IT" dirty="0"/>
              <a:t>-processing dei dati</a:t>
            </a:r>
            <a:br>
              <a:rPr lang="it-IT" dirty="0"/>
            </a:br>
            <a:r>
              <a:rPr lang="it-IT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Mapping tra </a:t>
            </a:r>
            <a:r>
              <a:rPr lang="it-IT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MovieLens</a:t>
            </a:r>
            <a:r>
              <a:rPr lang="it-IT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</a:t>
            </a:r>
            <a:r>
              <a:rPr lang="it-IT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DBPedia</a:t>
            </a:r>
            <a:endParaRPr lang="it-IT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F9B04BA-2C83-49F3-FC34-EA9504900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938528"/>
            <a:ext cx="9601200" cy="3581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b="1" dirty="0">
                <a:solidFill>
                  <a:schemeClr val="accent6">
                    <a:lumMod val="75000"/>
                  </a:schemeClr>
                </a:solidFill>
              </a:rPr>
              <a:t>Problema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4DF55C9E-D150-9C11-D51B-16AE0290AE63}"/>
              </a:ext>
            </a:extLst>
          </p:cNvPr>
          <p:cNvSpPr txBox="1">
            <a:spLocks/>
          </p:cNvSpPr>
          <p:nvPr/>
        </p:nvSpPr>
        <p:spPr>
          <a:xfrm>
            <a:off x="1459992" y="2365248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b="1" dirty="0" err="1"/>
              <a:t>MovieLens</a:t>
            </a:r>
            <a:r>
              <a:rPr lang="it-IT" dirty="0"/>
              <a:t> e </a:t>
            </a:r>
            <a:r>
              <a:rPr lang="it-IT" b="1" dirty="0" err="1"/>
              <a:t>DBPedia</a:t>
            </a:r>
            <a:r>
              <a:rPr lang="it-IT" dirty="0"/>
              <a:t> non condividono un identificativo comune per i film</a:t>
            </a:r>
          </a:p>
          <a:p>
            <a:r>
              <a:rPr lang="it-IT" dirty="0"/>
              <a:t>Fare una ricerca per titolo non era sufficiente per ottenere la corrispondenza corretta</a:t>
            </a: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DF8F7A08-F7A4-1174-8C33-C7353343B88F}"/>
              </a:ext>
            </a:extLst>
          </p:cNvPr>
          <p:cNvSpPr txBox="1">
            <a:spLocks/>
          </p:cNvSpPr>
          <p:nvPr/>
        </p:nvSpPr>
        <p:spPr>
          <a:xfrm>
            <a:off x="1371600" y="354435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Franklin Gothic Book" panose="020B0503020102020204" pitchFamily="34" charset="0"/>
              <a:buNone/>
            </a:pPr>
            <a:r>
              <a:rPr lang="it-IT" b="1" dirty="0">
                <a:solidFill>
                  <a:schemeClr val="accent4">
                    <a:lumMod val="75000"/>
                  </a:schemeClr>
                </a:solidFill>
              </a:rPr>
              <a:t>Soluzione</a:t>
            </a:r>
          </a:p>
        </p:txBody>
      </p: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437784CE-5630-8304-4A71-E9F539DB36FA}"/>
              </a:ext>
            </a:extLst>
          </p:cNvPr>
          <p:cNvSpPr txBox="1">
            <a:spLocks/>
          </p:cNvSpPr>
          <p:nvPr/>
        </p:nvSpPr>
        <p:spPr>
          <a:xfrm>
            <a:off x="1459992" y="3922776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b="1" dirty="0" err="1"/>
              <a:t>IMDb</a:t>
            </a:r>
            <a:r>
              <a:rPr lang="it-IT" b="1" dirty="0"/>
              <a:t> (Internet Movie Database)</a:t>
            </a:r>
            <a:r>
              <a:rPr lang="it-IT" dirty="0"/>
              <a:t> contiene lo stesso titolo presente in </a:t>
            </a:r>
            <a:r>
              <a:rPr lang="it-IT" i="1" dirty="0" err="1"/>
              <a:t>DBPedia</a:t>
            </a:r>
            <a:endParaRPr lang="it-IT" i="1" dirty="0"/>
          </a:p>
          <a:p>
            <a:r>
              <a:rPr lang="it-IT" i="1" dirty="0" err="1"/>
              <a:t>MovieLens</a:t>
            </a:r>
            <a:r>
              <a:rPr lang="it-IT" dirty="0"/>
              <a:t> fornisce un campo </a:t>
            </a:r>
            <a:r>
              <a:rPr lang="it-IT" b="1" dirty="0" err="1"/>
              <a:t>Imdb_Id</a:t>
            </a:r>
            <a:r>
              <a:rPr lang="it-IT" dirty="0"/>
              <a:t> per ogni film</a:t>
            </a:r>
          </a:p>
          <a:p>
            <a:r>
              <a:rPr lang="it-IT" dirty="0"/>
              <a:t>Usando </a:t>
            </a:r>
            <a:r>
              <a:rPr lang="it-IT" b="1" dirty="0" err="1"/>
              <a:t>ImdbId</a:t>
            </a:r>
            <a:r>
              <a:rPr lang="it-IT" b="1" dirty="0"/>
              <a:t> </a:t>
            </a:r>
            <a:r>
              <a:rPr lang="it-IT" dirty="0"/>
              <a:t>(tramite un’API), possiamo ottenere il titolo corretto e interrogarlo su </a:t>
            </a:r>
            <a:r>
              <a:rPr lang="it-IT" i="1" dirty="0" err="1"/>
              <a:t>DBPedia</a:t>
            </a:r>
            <a:endParaRPr lang="it-IT" i="1" dirty="0"/>
          </a:p>
          <a:p>
            <a:r>
              <a:rPr lang="it-IT" dirty="0"/>
              <a:t>Creazione del file </a:t>
            </a:r>
            <a:r>
              <a:rPr lang="it-IT" b="1" dirty="0"/>
              <a:t>movie_mapping.csv</a:t>
            </a:r>
            <a:r>
              <a:rPr lang="it-IT" dirty="0"/>
              <a:t> con la mappatura corretta.</a:t>
            </a:r>
          </a:p>
        </p:txBody>
      </p:sp>
    </p:spTree>
    <p:extLst>
      <p:ext uri="{BB962C8B-B14F-4D97-AF65-F5344CB8AC3E}">
        <p14:creationId xmlns:p14="http://schemas.microsoft.com/office/powerpoint/2010/main" val="4057663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06E1E-336D-0F30-5DD9-F28B9D4EF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3ABB86-2142-0127-1F93-C6D402109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Pre</a:t>
            </a:r>
            <a:r>
              <a:rPr lang="it-IT" dirty="0"/>
              <a:t>-processing dei dati</a:t>
            </a:r>
            <a:br>
              <a:rPr lang="it-IT" dirty="0"/>
            </a:br>
            <a:r>
              <a:rPr lang="it-IT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Mapping tra </a:t>
            </a:r>
            <a:r>
              <a:rPr lang="it-IT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MovieLens</a:t>
            </a:r>
            <a:r>
              <a:rPr lang="it-IT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</a:t>
            </a:r>
            <a:r>
              <a:rPr lang="it-IT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DBPedia</a:t>
            </a:r>
            <a:endParaRPr lang="it-IT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D3F5E42-F135-3DC4-B738-BC1E834EC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938528"/>
            <a:ext cx="9601200" cy="3581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b="1" dirty="0">
                <a:solidFill>
                  <a:schemeClr val="accent2">
                    <a:lumMod val="75000"/>
                  </a:schemeClr>
                </a:solidFill>
              </a:rPr>
              <a:t>Query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06837E59-94AB-621C-DB2E-079FDECE6512}"/>
              </a:ext>
            </a:extLst>
          </p:cNvPr>
          <p:cNvSpPr txBox="1">
            <a:spLocks/>
          </p:cNvSpPr>
          <p:nvPr/>
        </p:nvSpPr>
        <p:spPr>
          <a:xfrm>
            <a:off x="1459992" y="2365248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it-IT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2648CCD8-D108-7BE2-2436-15185EE77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805" y="1938528"/>
            <a:ext cx="4867574" cy="47269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71127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50BC3-A798-3619-8898-35449002C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1DF912-8D14-5CB9-659C-5AF93680E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Pre</a:t>
            </a:r>
            <a:r>
              <a:rPr lang="it-IT" dirty="0"/>
              <a:t>-processing dei dati</a:t>
            </a:r>
            <a:br>
              <a:rPr lang="it-IT" dirty="0"/>
            </a:br>
            <a:r>
              <a:rPr lang="it-IT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Mapping tra </a:t>
            </a:r>
            <a:r>
              <a:rPr lang="it-IT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MovieLens</a:t>
            </a:r>
            <a:r>
              <a:rPr lang="it-IT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</a:t>
            </a:r>
            <a:r>
              <a:rPr lang="it-IT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DBPedia</a:t>
            </a:r>
            <a:endParaRPr lang="it-IT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C14B512-C3B7-60B1-5B5A-6526CD1B4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938528"/>
            <a:ext cx="9601200" cy="3581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b="1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mapping_movies.csv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C8611438-F4ED-775F-8BDB-6C12DC6FB9E7}"/>
              </a:ext>
            </a:extLst>
          </p:cNvPr>
          <p:cNvSpPr txBox="1">
            <a:spLocks/>
          </p:cNvSpPr>
          <p:nvPr/>
        </p:nvSpPr>
        <p:spPr>
          <a:xfrm>
            <a:off x="1459992" y="2365248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it-IT" dirty="0"/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C0DAD4E5-325F-77AD-5F2A-2BE0AB4E63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512774"/>
              </p:ext>
            </p:extLst>
          </p:nvPr>
        </p:nvGraphicFramePr>
        <p:xfrm>
          <a:off x="1431036" y="2484458"/>
          <a:ext cx="9585960" cy="311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5060">
                  <a:extLst>
                    <a:ext uri="{9D8B030D-6E8A-4147-A177-3AD203B41FA5}">
                      <a16:colId xmlns:a16="http://schemas.microsoft.com/office/drawing/2014/main" val="4245850036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554413979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3473290300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3030317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Uri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Imdb_ID</a:t>
                      </a:r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movieID</a:t>
                      </a:r>
                      <a:endParaRPr lang="it-IT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4703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u="sng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http://dbpedia.org/resource/Toy_Story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Toy Story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0114709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2137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u="sng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http://dbpedia.org/resource/Jumanji</a:t>
                      </a:r>
                    </a:p>
                    <a:p>
                      <a:pPr algn="ctr"/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Jumanji</a:t>
                      </a:r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0113497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2.0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3946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u="sng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http://dbpedia.org/resource/Grumpier_Old_Men</a:t>
                      </a:r>
                    </a:p>
                    <a:p>
                      <a:pPr algn="ctr"/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Grumpier_Old_Men</a:t>
                      </a:r>
                      <a:endParaRPr lang="it-IT" dirty="0"/>
                    </a:p>
                    <a:p>
                      <a:pPr algn="ctr"/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0113228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3.0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2568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6401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42F5D-D3B0-D568-988F-48BB81D16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EF8CB5D-B91F-9B23-B54E-5397E5C1D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Pre</a:t>
            </a:r>
            <a:r>
              <a:rPr lang="it-IT" dirty="0"/>
              <a:t>-processing dei dati</a:t>
            </a:r>
            <a:br>
              <a:rPr lang="it-IT" dirty="0"/>
            </a:br>
            <a:r>
              <a:rPr lang="it-IT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Mapping tra </a:t>
            </a:r>
            <a:r>
              <a:rPr lang="it-IT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MovieLens</a:t>
            </a:r>
            <a:r>
              <a:rPr lang="it-IT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</a:t>
            </a:r>
            <a:r>
              <a:rPr lang="it-IT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DBPedia</a:t>
            </a:r>
            <a:endParaRPr lang="it-IT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D0C6D92-C200-765C-09E9-11AFACF8B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5120" y="2365248"/>
            <a:ext cx="9990944" cy="35814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it-IT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it-IT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 questa soluzione abbiamo preso ispirazione dal seguente GitHub che fornisce una mappatura del dataset del 2014:</a:t>
            </a:r>
          </a:p>
          <a:p>
            <a:pPr marL="0" indent="0">
              <a:buNone/>
            </a:pPr>
            <a:endParaRPr lang="it-IT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it-IT" dirty="0">
                <a:solidFill>
                  <a:schemeClr val="tx1"/>
                </a:solidFill>
                <a:hlinkClick r:id="rId2"/>
              </a:rPr>
              <a:t>https://github.com/sisinflab/LODrecsys-datasets/blob/master/Movielens1M/README.md</a:t>
            </a:r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515DEDAD-23A8-43EB-016C-8533C7EA33B0}"/>
              </a:ext>
            </a:extLst>
          </p:cNvPr>
          <p:cNvSpPr txBox="1">
            <a:spLocks/>
          </p:cNvSpPr>
          <p:nvPr/>
        </p:nvSpPr>
        <p:spPr>
          <a:xfrm>
            <a:off x="1459992" y="2365248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52317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1C1DEA7-753D-8B52-C01C-DE6254358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685800"/>
            <a:ext cx="10500611" cy="1485900"/>
          </a:xfrm>
        </p:spPr>
        <p:txBody>
          <a:bodyPr/>
          <a:lstStyle/>
          <a:p>
            <a:r>
              <a:rPr lang="it-IT" dirty="0"/>
              <a:t>Sviluppo del Sistema di Raccomandazione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91B4618-5291-54BD-5851-40B2AE510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19072"/>
            <a:ext cx="9601200" cy="3581400"/>
          </a:xfrm>
        </p:spPr>
        <p:txBody>
          <a:bodyPr/>
          <a:lstStyle/>
          <a:p>
            <a:r>
              <a:rPr lang="it-IT" b="1" dirty="0"/>
              <a:t>Obiettivo: </a:t>
            </a:r>
            <a:r>
              <a:rPr lang="it-IT" dirty="0"/>
              <a:t>Predire le valutazioni dei film non visti dagli utenti utilizzando </a:t>
            </a:r>
            <a:r>
              <a:rPr lang="it-IT" b="1" dirty="0"/>
              <a:t>Collaborative Filtering</a:t>
            </a:r>
          </a:p>
          <a:p>
            <a:endParaRPr lang="it-IT" b="1" dirty="0"/>
          </a:p>
          <a:p>
            <a:r>
              <a:rPr lang="it-IT" dirty="0"/>
              <a:t>Utilizzando un modello </a:t>
            </a:r>
            <a:r>
              <a:rPr lang="it-IT" b="1" dirty="0"/>
              <a:t>SVD (</a:t>
            </a:r>
            <a:r>
              <a:rPr lang="it-IT" b="1" dirty="0" err="1"/>
              <a:t>Singular</a:t>
            </a:r>
            <a:r>
              <a:rPr lang="it-IT" b="1" dirty="0"/>
              <a:t> Value </a:t>
            </a:r>
            <a:r>
              <a:rPr lang="it-IT" b="1" dirty="0" err="1"/>
              <a:t>Decomposition</a:t>
            </a:r>
            <a:r>
              <a:rPr lang="it-IT" b="1" dirty="0"/>
              <a:t>)</a:t>
            </a:r>
          </a:p>
          <a:p>
            <a:r>
              <a:rPr lang="it-IT" b="1" dirty="0"/>
              <a:t>Output</a:t>
            </a:r>
            <a:r>
              <a:rPr lang="it-IT" dirty="0"/>
              <a:t>: Il modello genera un file </a:t>
            </a:r>
            <a:r>
              <a:rPr lang="it-IT" i="1" dirty="0"/>
              <a:t>.csv </a:t>
            </a:r>
            <a:r>
              <a:rPr lang="it-IT" dirty="0"/>
              <a:t>contenente le </a:t>
            </a:r>
            <a:r>
              <a:rPr lang="it-IT" b="1" dirty="0"/>
              <a:t>predizioni degli utenti </a:t>
            </a:r>
            <a:r>
              <a:rPr lang="it-IT" dirty="0"/>
              <a:t>a</a:t>
            </a:r>
            <a:r>
              <a:rPr lang="it-IT" b="1" dirty="0"/>
              <a:t> </a:t>
            </a:r>
            <a:r>
              <a:rPr lang="it-IT" dirty="0"/>
              <a:t>film non ancora valutati.</a:t>
            </a:r>
          </a:p>
          <a:p>
            <a:r>
              <a:rPr lang="it-IT" dirty="0"/>
              <a:t>Esempio</a:t>
            </a:r>
            <a:r>
              <a:rPr lang="it-IT" b="1" dirty="0"/>
              <a:t>:</a:t>
            </a:r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24A10CCA-0A72-A143-EE96-5F6C7F6021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226427"/>
              </p:ext>
            </p:extLst>
          </p:nvPr>
        </p:nvGraphicFramePr>
        <p:xfrm>
          <a:off x="2032000" y="4686301"/>
          <a:ext cx="8127999" cy="1112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86180735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9504794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062066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userID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movieId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estimatedRating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584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318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4.78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857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1704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3.81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751621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DB3B9DC8-9AD8-D0D3-1AEE-16BC25920866}"/>
              </a:ext>
            </a:extLst>
          </p:cNvPr>
          <p:cNvSpPr txBox="1"/>
          <p:nvPr/>
        </p:nvSpPr>
        <p:spPr>
          <a:xfrm>
            <a:off x="7843916" y="5827515"/>
            <a:ext cx="2316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i="1" dirty="0"/>
              <a:t>estimated_ratings.csv</a:t>
            </a:r>
          </a:p>
        </p:txBody>
      </p:sp>
    </p:spTree>
    <p:extLst>
      <p:ext uri="{BB962C8B-B14F-4D97-AF65-F5344CB8AC3E}">
        <p14:creationId xmlns:p14="http://schemas.microsoft.com/office/powerpoint/2010/main" val="2832751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454EA-BD8F-ED19-0FC2-48990182C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78DAAB-8C9C-123B-8AB0-12F038AE6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4542" y="3119828"/>
            <a:ext cx="2262915" cy="618344"/>
          </a:xfrm>
        </p:spPr>
        <p:txBody>
          <a:bodyPr>
            <a:normAutofit fontScale="90000"/>
          </a:bodyPr>
          <a:lstStyle/>
          <a:p>
            <a:r>
              <a:rPr lang="it-IT" dirty="0"/>
              <a:t>MODELLI</a:t>
            </a:r>
          </a:p>
        </p:txBody>
      </p:sp>
    </p:spTree>
    <p:extLst>
      <p:ext uri="{BB962C8B-B14F-4D97-AF65-F5344CB8AC3E}">
        <p14:creationId xmlns:p14="http://schemas.microsoft.com/office/powerpoint/2010/main" val="2286913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38F33A-22D5-66C7-8746-E24472917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Modello SVD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8046EE8-52D5-2F4C-CB7C-D9484EB94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Il modello SVD trasforma la matrice utente-item in </a:t>
            </a:r>
            <a:r>
              <a:rPr lang="it-IT" b="1" dirty="0"/>
              <a:t>spazi latenti</a:t>
            </a:r>
            <a:r>
              <a:rPr lang="it-IT" dirty="0"/>
              <a:t>, che catturano dei pattern nascosti dalle preferenze degli utenti</a:t>
            </a:r>
          </a:p>
          <a:p>
            <a:r>
              <a:rPr lang="it-IT"/>
              <a:t>Consente di </a:t>
            </a:r>
            <a:r>
              <a:rPr lang="it-IT" dirty="0"/>
              <a:t>rappresentare utenti e item come vettori in uno spazio a dimensionalità ridotta</a:t>
            </a:r>
          </a:p>
          <a:p>
            <a:r>
              <a:rPr lang="it-IT" dirty="0"/>
              <a:t>Affronta il problema della matrice sparsa utilizzando tecniche di fattorizzazione della matrice per predire i rating mancanti</a:t>
            </a:r>
          </a:p>
          <a:p>
            <a:r>
              <a:rPr lang="it-IT" dirty="0"/>
              <a:t>Permette di ottenere raccomandazioni personalizzate identificando preferenze simili tra utenti (</a:t>
            </a:r>
            <a:r>
              <a:rPr lang="it-IT" i="1" dirty="0"/>
              <a:t>collaborative filtering</a:t>
            </a:r>
            <a:r>
              <a:rPr lang="it-IT" dirty="0"/>
              <a:t>) e le relazioni tra item.</a:t>
            </a:r>
          </a:p>
        </p:txBody>
      </p:sp>
    </p:spTree>
    <p:extLst>
      <p:ext uri="{BB962C8B-B14F-4D97-AF65-F5344CB8AC3E}">
        <p14:creationId xmlns:p14="http://schemas.microsoft.com/office/powerpoint/2010/main" val="39154596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AFC692-43F7-7639-1FEB-A39EA517A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Modello SVD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7A47013-9F75-AAB2-8E56-4A188B932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01368"/>
            <a:ext cx="9601200" cy="3581400"/>
          </a:xfrm>
        </p:spPr>
        <p:txBody>
          <a:bodyPr/>
          <a:lstStyle/>
          <a:p>
            <a:r>
              <a:rPr lang="it-IT" dirty="0"/>
              <a:t>Per la realizzazione è stata utilizzata la libreria </a:t>
            </a:r>
            <a:r>
              <a:rPr lang="it-IT" b="1" dirty="0" err="1"/>
              <a:t>Surprise</a:t>
            </a:r>
            <a:endParaRPr lang="it-IT" b="1" dirty="0"/>
          </a:p>
          <a:p>
            <a:r>
              <a:rPr lang="it-IT" dirty="0"/>
              <a:t>Parametri del modello SVD: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D3CE87FE-A94C-533F-EDCF-89D67CBFBCD8}"/>
              </a:ext>
            </a:extLst>
          </p:cNvPr>
          <p:cNvSpPr/>
          <p:nvPr/>
        </p:nvSpPr>
        <p:spPr>
          <a:xfrm>
            <a:off x="9253728" y="414528"/>
            <a:ext cx="2635377" cy="445922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7" name="Immagine 6" descr="Immagine che contiene Elementi grafici, Policromia, grafica, schermata&#10;&#10;Il contenuto generato dall'IA potrebbe non essere corretto.">
            <a:extLst>
              <a:ext uri="{FF2B5EF4-FFF2-40B4-BE49-F238E27FC236}">
                <a16:creationId xmlns:a16="http://schemas.microsoft.com/office/drawing/2014/main" id="{9330EE10-5B9F-BC1D-453E-CFDFBD5B52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4810" y="599885"/>
            <a:ext cx="1853212" cy="795337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0901870D-5D54-6018-3FB0-D8087F48F2B7}"/>
              </a:ext>
            </a:extLst>
          </p:cNvPr>
          <p:cNvSpPr txBox="1"/>
          <p:nvPr/>
        </p:nvSpPr>
        <p:spPr>
          <a:xfrm>
            <a:off x="9134856" y="1450848"/>
            <a:ext cx="263537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	Diversi </a:t>
            </a:r>
            <a:r>
              <a:rPr lang="it-IT" sz="1600" b="1" dirty="0"/>
              <a:t>modelli</a:t>
            </a:r>
            <a:r>
              <a:rPr lang="it-IT" sz="1600" dirty="0"/>
              <a:t> di 	raccomandazione (es. 	SVD, KNN, NMF </a:t>
            </a:r>
            <a:r>
              <a:rPr lang="it-IT" sz="1600" dirty="0" err="1"/>
              <a:t>etc</a:t>
            </a:r>
            <a:r>
              <a:rPr lang="it-IT" sz="1600" dirty="0"/>
              <a:t>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/>
          </a:p>
          <a:p>
            <a:r>
              <a:rPr lang="it-IT" sz="1600" b="1" dirty="0"/>
              <a:t>	Ottimizzazione sui 	modelli</a:t>
            </a:r>
            <a:r>
              <a:rPr lang="it-IT" sz="1600" dirty="0"/>
              <a:t>: </a:t>
            </a:r>
            <a:r>
              <a:rPr lang="it-IT" sz="1600" dirty="0" err="1"/>
              <a:t>GridSearch</a:t>
            </a:r>
            <a:r>
              <a:rPr lang="it-IT" sz="1600" dirty="0"/>
              <a:t>, 	</a:t>
            </a:r>
            <a:r>
              <a:rPr lang="it-IT" sz="1600" dirty="0" err="1"/>
              <a:t>Kfold</a:t>
            </a: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/>
          </a:p>
          <a:p>
            <a:r>
              <a:rPr lang="it-IT" sz="1600" b="1" dirty="0"/>
              <a:t>	Metriche di 	valutazione</a:t>
            </a:r>
            <a:r>
              <a:rPr lang="it-IT" sz="1600" dirty="0"/>
              <a:t>: RMSE, 	MAE, Cross 	</a:t>
            </a:r>
            <a:r>
              <a:rPr lang="it-IT" sz="1600" dirty="0" err="1"/>
              <a:t>Validation</a:t>
            </a:r>
            <a:r>
              <a:rPr lang="it-IT" sz="1600" dirty="0"/>
              <a:t>…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AFD77E5-38F3-BD99-38F0-F23953E94CE6}"/>
              </a:ext>
            </a:extLst>
          </p:cNvPr>
          <p:cNvSpPr txBox="1"/>
          <p:nvPr/>
        </p:nvSpPr>
        <p:spPr>
          <a:xfrm>
            <a:off x="2261616" y="2898552"/>
            <a:ext cx="1799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/>
              <a:t>Numero fattori latenti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930F3E7B-5264-FDAE-FAB8-7D44D2D751AA}"/>
              </a:ext>
            </a:extLst>
          </p:cNvPr>
          <p:cNvSpPr txBox="1"/>
          <p:nvPr/>
        </p:nvSpPr>
        <p:spPr>
          <a:xfrm>
            <a:off x="2281740" y="3187004"/>
            <a:ext cx="14495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/>
              <a:t>Regolarizzazione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33A96BC-18DC-DCE9-560E-CE789F7E991D}"/>
              </a:ext>
            </a:extLst>
          </p:cNvPr>
          <p:cNvSpPr txBox="1"/>
          <p:nvPr/>
        </p:nvSpPr>
        <p:spPr>
          <a:xfrm>
            <a:off x="2261616" y="3447823"/>
            <a:ext cx="15697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/>
              <a:t>Numero di epoche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6ACC5BD8-AF3B-A26E-7F67-957B9227DE31}"/>
              </a:ext>
            </a:extLst>
          </p:cNvPr>
          <p:cNvSpPr txBox="1"/>
          <p:nvPr/>
        </p:nvSpPr>
        <p:spPr>
          <a:xfrm>
            <a:off x="2261616" y="3732584"/>
            <a:ext cx="11882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/>
              <a:t>Learning rate</a:t>
            </a:r>
          </a:p>
        </p:txBody>
      </p:sp>
      <p:cxnSp>
        <p:nvCxnSpPr>
          <p:cNvPr id="14" name="Connettore curvo 13">
            <a:extLst>
              <a:ext uri="{FF2B5EF4-FFF2-40B4-BE49-F238E27FC236}">
                <a16:creationId xmlns:a16="http://schemas.microsoft.com/office/drawing/2014/main" id="{9D7C3D88-795B-E5BA-AA93-522444D9ACFA}"/>
              </a:ext>
            </a:extLst>
          </p:cNvPr>
          <p:cNvCxnSpPr>
            <a:stCxn id="9" idx="3"/>
          </p:cNvCxnSpPr>
          <p:nvPr/>
        </p:nvCxnSpPr>
        <p:spPr>
          <a:xfrm>
            <a:off x="4061276" y="3052441"/>
            <a:ext cx="1287964" cy="44234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curvo 14">
            <a:extLst>
              <a:ext uri="{FF2B5EF4-FFF2-40B4-BE49-F238E27FC236}">
                <a16:creationId xmlns:a16="http://schemas.microsoft.com/office/drawing/2014/main" id="{B4A36F4A-D565-2AE6-56DE-D05BF1512C36}"/>
              </a:ext>
            </a:extLst>
          </p:cNvPr>
          <p:cNvCxnSpPr>
            <a:cxnSpLocks/>
          </p:cNvCxnSpPr>
          <p:nvPr/>
        </p:nvCxnSpPr>
        <p:spPr>
          <a:xfrm>
            <a:off x="3679761" y="3340893"/>
            <a:ext cx="1669479" cy="13935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curvo 16">
            <a:extLst>
              <a:ext uri="{FF2B5EF4-FFF2-40B4-BE49-F238E27FC236}">
                <a16:creationId xmlns:a16="http://schemas.microsoft.com/office/drawing/2014/main" id="{28B9601B-F689-8C16-720D-0ED70E013348}"/>
              </a:ext>
            </a:extLst>
          </p:cNvPr>
          <p:cNvCxnSpPr>
            <a:cxnSpLocks/>
          </p:cNvCxnSpPr>
          <p:nvPr/>
        </p:nvCxnSpPr>
        <p:spPr>
          <a:xfrm flipV="1">
            <a:off x="3772305" y="3494781"/>
            <a:ext cx="1576935" cy="9416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curvo 18">
            <a:extLst>
              <a:ext uri="{FF2B5EF4-FFF2-40B4-BE49-F238E27FC236}">
                <a16:creationId xmlns:a16="http://schemas.microsoft.com/office/drawing/2014/main" id="{C8B818FA-2B3C-2D43-8E2E-57BCECA9E6F6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3449890" y="3491090"/>
            <a:ext cx="1899350" cy="39538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73E47EB1-ADC0-EB9F-B3BA-7584ADA3831B}"/>
              </a:ext>
            </a:extLst>
          </p:cNvPr>
          <p:cNvSpPr txBox="1"/>
          <p:nvPr/>
        </p:nvSpPr>
        <p:spPr>
          <a:xfrm>
            <a:off x="5365543" y="3242905"/>
            <a:ext cx="2039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err="1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Grid</a:t>
            </a:r>
            <a:r>
              <a:rPr lang="it-IT" sz="24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it-IT" sz="2400" dirty="0" err="1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Search</a:t>
            </a:r>
            <a:endParaRPr lang="it-IT" sz="2400" dirty="0">
              <a:solidFill>
                <a:srgbClr val="FF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aphicFrame>
        <p:nvGraphicFramePr>
          <p:cNvPr id="25" name="Tabella 24">
            <a:extLst>
              <a:ext uri="{FF2B5EF4-FFF2-40B4-BE49-F238E27FC236}">
                <a16:creationId xmlns:a16="http://schemas.microsoft.com/office/drawing/2014/main" id="{B1781875-F46B-424B-3684-6DC4CD56FC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1357718"/>
              </p:ext>
            </p:extLst>
          </p:nvPr>
        </p:nvGraphicFramePr>
        <p:xfrm>
          <a:off x="2404872" y="4497836"/>
          <a:ext cx="4608230" cy="14630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46464">
                  <a:extLst>
                    <a:ext uri="{9D8B030D-6E8A-4147-A177-3AD203B41FA5}">
                      <a16:colId xmlns:a16="http://schemas.microsoft.com/office/drawing/2014/main" val="891469045"/>
                    </a:ext>
                  </a:extLst>
                </a:gridCol>
                <a:gridCol w="1153922">
                  <a:extLst>
                    <a:ext uri="{9D8B030D-6E8A-4147-A177-3AD203B41FA5}">
                      <a16:colId xmlns:a16="http://schemas.microsoft.com/office/drawing/2014/main" val="3350817976"/>
                    </a:ext>
                  </a:extLst>
                </a:gridCol>
                <a:gridCol w="1153922">
                  <a:extLst>
                    <a:ext uri="{9D8B030D-6E8A-4147-A177-3AD203B41FA5}">
                      <a16:colId xmlns:a16="http://schemas.microsoft.com/office/drawing/2014/main" val="3391438803"/>
                    </a:ext>
                  </a:extLst>
                </a:gridCol>
                <a:gridCol w="1153922">
                  <a:extLst>
                    <a:ext uri="{9D8B030D-6E8A-4147-A177-3AD203B41FA5}">
                      <a16:colId xmlns:a16="http://schemas.microsoft.com/office/drawing/2014/main" val="2325702076"/>
                    </a:ext>
                  </a:extLst>
                </a:gridCol>
              </a:tblGrid>
              <a:tr h="365311"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n_factors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reg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n_epochs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lr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4293247"/>
                  </a:ext>
                </a:extLst>
              </a:tr>
              <a:tr h="365311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0.002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953505"/>
                  </a:ext>
                </a:extLst>
              </a:tr>
              <a:tr h="365311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0.005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3992523"/>
                  </a:ext>
                </a:extLst>
              </a:tr>
              <a:tr h="365311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0567735"/>
                  </a:ext>
                </a:extLst>
              </a:tr>
            </a:tbl>
          </a:graphicData>
        </a:graphic>
      </p:graphicFrame>
      <p:sp>
        <p:nvSpPr>
          <p:cNvPr id="26" name="Rettangolo 25">
            <a:extLst>
              <a:ext uri="{FF2B5EF4-FFF2-40B4-BE49-F238E27FC236}">
                <a16:creationId xmlns:a16="http://schemas.microsoft.com/office/drawing/2014/main" id="{77B6DF1B-023D-85A3-8CEC-9CE505BFA410}"/>
              </a:ext>
            </a:extLst>
          </p:cNvPr>
          <p:cNvSpPr/>
          <p:nvPr/>
        </p:nvSpPr>
        <p:spPr>
          <a:xfrm>
            <a:off x="5865616" y="5619647"/>
            <a:ext cx="1124712" cy="3413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DF63418A-B75B-EFD2-06C1-FD131D781DFB}"/>
              </a:ext>
            </a:extLst>
          </p:cNvPr>
          <p:cNvSpPr/>
          <p:nvPr/>
        </p:nvSpPr>
        <p:spPr>
          <a:xfrm>
            <a:off x="3564860" y="5236552"/>
            <a:ext cx="1124712" cy="3413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F54695F5-0DFD-3144-B028-EB0D65400564}"/>
              </a:ext>
            </a:extLst>
          </p:cNvPr>
          <p:cNvSpPr/>
          <p:nvPr/>
        </p:nvSpPr>
        <p:spPr>
          <a:xfrm>
            <a:off x="4718130" y="5619647"/>
            <a:ext cx="1124712" cy="3413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9229B76B-0EA2-94E9-A0E3-A5740A10BCBC}"/>
              </a:ext>
            </a:extLst>
          </p:cNvPr>
          <p:cNvSpPr/>
          <p:nvPr/>
        </p:nvSpPr>
        <p:spPr>
          <a:xfrm>
            <a:off x="2425403" y="5619647"/>
            <a:ext cx="1124712" cy="3413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9877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2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725DB-56D7-BBB0-AACD-CCB81D206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6E3E1C-3190-ED3B-63CF-8F171262E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Confronto con altri modelli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139D38D-FB64-1DD4-66DA-963DB54B1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706624"/>
            <a:ext cx="9601200" cy="2551176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Sono stati presi in esame anche i seguenti modelli oltre SVD al fine di avere una panoramica più completa e scegliere il modello più appropriato: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b="1" dirty="0" err="1"/>
              <a:t>KNNBasic</a:t>
            </a:r>
            <a:endParaRPr lang="it-IT" b="1" dirty="0"/>
          </a:p>
          <a:p>
            <a:pPr>
              <a:buFont typeface="Arial" panose="020B0604020202020204" pitchFamily="34" charset="0"/>
              <a:buChar char="•"/>
            </a:pPr>
            <a:r>
              <a:rPr lang="it-IT" b="1" dirty="0" err="1"/>
              <a:t>KNNBaseline</a:t>
            </a:r>
            <a:endParaRPr lang="it-IT" b="1" dirty="0"/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020750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44BB3-F5CD-39F9-E224-5FC3F92F9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04D718-C199-DE0C-1F8E-17D626DF5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Modello </a:t>
            </a:r>
            <a:r>
              <a:rPr lang="it-IT" dirty="0" err="1"/>
              <a:t>KNNBasic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9DB417F-344F-EA0D-2EFA-49DE8A8D8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903751"/>
            <a:ext cx="9601200" cy="4646951"/>
          </a:xfrm>
        </p:spPr>
        <p:txBody>
          <a:bodyPr>
            <a:normAutofit/>
          </a:bodyPr>
          <a:lstStyle/>
          <a:p>
            <a:r>
              <a:rPr lang="it-IT" b="1" dirty="0" err="1"/>
              <a:t>KNNBasic</a:t>
            </a:r>
            <a:r>
              <a:rPr lang="it-IT" dirty="0"/>
              <a:t> è una tecnica di collaborative filtering che genera raccomandazioni sfruttando la similarità tra utenti o item</a:t>
            </a:r>
          </a:p>
          <a:p>
            <a:r>
              <a:rPr lang="it-IT" dirty="0"/>
              <a:t>Si basa sull'algoritmo </a:t>
            </a:r>
            <a:r>
              <a:rPr lang="it-IT" b="1" dirty="0"/>
              <a:t>K-</a:t>
            </a:r>
            <a:r>
              <a:rPr lang="it-IT" b="1" dirty="0" err="1"/>
              <a:t>Nearest</a:t>
            </a:r>
            <a:r>
              <a:rPr lang="it-IT" b="1" dirty="0"/>
              <a:t> </a:t>
            </a:r>
            <a:r>
              <a:rPr lang="it-IT" b="1" dirty="0" err="1"/>
              <a:t>Neighbors</a:t>
            </a:r>
            <a:r>
              <a:rPr lang="it-IT" b="1" dirty="0"/>
              <a:t> </a:t>
            </a:r>
            <a:r>
              <a:rPr lang="it-IT" dirty="0"/>
              <a:t>(</a:t>
            </a:r>
            <a:r>
              <a:rPr lang="it-IT" b="1" dirty="0"/>
              <a:t>KNN</a:t>
            </a:r>
            <a:r>
              <a:rPr lang="it-IT" dirty="0"/>
              <a:t>) per individuare i "vicini più prossimi" (utenti o item simili) e utilizza i rating espressi da questi vicini per effettuare previsioni personalizzate.</a:t>
            </a:r>
            <a:endParaRPr lang="it-IT" b="1" dirty="0"/>
          </a:p>
          <a:p>
            <a:r>
              <a:rPr lang="it-IT" dirty="0"/>
              <a:t>Calcola la similarità tra utenti o item utilizzando misure come il </a:t>
            </a:r>
            <a:r>
              <a:rPr lang="it-IT" b="1" dirty="0"/>
              <a:t>coefficiente di Pearson</a:t>
            </a:r>
            <a:r>
              <a:rPr lang="it-IT" dirty="0"/>
              <a:t>.</a:t>
            </a:r>
          </a:p>
          <a:p>
            <a:r>
              <a:rPr lang="it-IT" dirty="0"/>
              <a:t>Per predire un rating mancante, aggrega i rating dei </a:t>
            </a:r>
            <a:r>
              <a:rPr lang="it-IT" b="1" dirty="0"/>
              <a:t>k</a:t>
            </a:r>
            <a:r>
              <a:rPr lang="it-IT" dirty="0"/>
              <a:t> vicini più simili.</a:t>
            </a:r>
          </a:p>
          <a:p>
            <a:r>
              <a:rPr lang="it-IT" dirty="0"/>
              <a:t>È semplice da implementare, tuttavia, soffre di problemi di scalabilità con dataset di grandi dimensioni.</a:t>
            </a:r>
          </a:p>
        </p:txBody>
      </p:sp>
    </p:spTree>
    <p:extLst>
      <p:ext uri="{BB962C8B-B14F-4D97-AF65-F5344CB8AC3E}">
        <p14:creationId xmlns:p14="http://schemas.microsoft.com/office/powerpoint/2010/main" val="7020119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EA2FB-9D7E-8542-419F-FFED11B2B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8F5E4E-554A-D593-8C1E-725F8145C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Modello </a:t>
            </a:r>
            <a:r>
              <a:rPr lang="it-IT" dirty="0" err="1"/>
              <a:t>KNNBaseline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ACB3DEC-FAAB-30B0-6BE5-929BD618B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b="1" dirty="0" err="1"/>
              <a:t>KNNBaseline</a:t>
            </a:r>
            <a:r>
              <a:rPr lang="it-IT" dirty="0"/>
              <a:t> estende </a:t>
            </a:r>
            <a:r>
              <a:rPr lang="it-IT" dirty="0" err="1"/>
              <a:t>KNNBasic</a:t>
            </a:r>
            <a:r>
              <a:rPr lang="it-IT" dirty="0"/>
              <a:t> incorporando </a:t>
            </a:r>
            <a:r>
              <a:rPr lang="it-IT" b="1" dirty="0"/>
              <a:t>baseline </a:t>
            </a:r>
            <a:r>
              <a:rPr lang="it-IT" b="1" dirty="0" err="1"/>
              <a:t>estimates</a:t>
            </a:r>
            <a:r>
              <a:rPr lang="it-IT" b="1" dirty="0"/>
              <a:t> </a:t>
            </a:r>
            <a:r>
              <a:rPr lang="it-IT" dirty="0"/>
              <a:t>per migliorare l'accuratezza delle previsioni. Queste baseline tengono conto di </a:t>
            </a:r>
            <a:r>
              <a:rPr lang="it-IT" dirty="0" err="1"/>
              <a:t>bias</a:t>
            </a:r>
            <a:r>
              <a:rPr lang="it-IT" dirty="0"/>
              <a:t> sistematici come la tendenza generale di un utente a dare rating più alti o più bassi della media.</a:t>
            </a:r>
          </a:p>
          <a:p>
            <a:r>
              <a:rPr lang="it-IT" dirty="0"/>
              <a:t>Calcola prima i baseline </a:t>
            </a:r>
            <a:r>
              <a:rPr lang="it-IT" dirty="0" err="1"/>
              <a:t>estimates</a:t>
            </a:r>
            <a:r>
              <a:rPr lang="it-IT" dirty="0"/>
              <a:t> per ogni coppia utente-item (considerando la </a:t>
            </a:r>
            <a:r>
              <a:rPr lang="it-IT" b="1" dirty="0"/>
              <a:t>media globale</a:t>
            </a:r>
            <a:r>
              <a:rPr lang="it-IT" dirty="0"/>
              <a:t>, il </a:t>
            </a:r>
            <a:r>
              <a:rPr lang="it-IT" b="1" dirty="0" err="1"/>
              <a:t>bias</a:t>
            </a:r>
            <a:r>
              <a:rPr lang="it-IT" b="1" dirty="0"/>
              <a:t> dell'utente </a:t>
            </a:r>
            <a:r>
              <a:rPr lang="it-IT" dirty="0"/>
              <a:t>e il </a:t>
            </a:r>
            <a:r>
              <a:rPr lang="it-IT" b="1" dirty="0" err="1"/>
              <a:t>bias</a:t>
            </a:r>
            <a:r>
              <a:rPr lang="it-IT" b="1" dirty="0"/>
              <a:t> dell'item</a:t>
            </a:r>
            <a:r>
              <a:rPr lang="it-IT" dirty="0"/>
              <a:t>), poi utilizza l'algoritmo KNN per calcolare le deviazioni dai baseline.</a:t>
            </a:r>
          </a:p>
          <a:p>
            <a:r>
              <a:rPr lang="it-IT" dirty="0"/>
              <a:t>Offre ottime prestazioni specialmente in dataset sparsi o con utenti che hanno stili di valutazione molto diversi.</a:t>
            </a:r>
          </a:p>
        </p:txBody>
      </p:sp>
    </p:spTree>
    <p:extLst>
      <p:ext uri="{BB962C8B-B14F-4D97-AF65-F5344CB8AC3E}">
        <p14:creationId xmlns:p14="http://schemas.microsoft.com/office/powerpoint/2010/main" val="12165692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6C966-DFEC-AC6B-91C1-7F3160CF7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4E321DB-CD90-FC02-CCDC-2E52E3A5C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4322" y="3119828"/>
            <a:ext cx="5783355" cy="618344"/>
          </a:xfrm>
        </p:spPr>
        <p:txBody>
          <a:bodyPr>
            <a:normAutofit fontScale="90000"/>
          </a:bodyPr>
          <a:lstStyle/>
          <a:p>
            <a:r>
              <a:rPr lang="it-IT" dirty="0"/>
              <a:t>VERIFICHE SPERIMENTALI</a:t>
            </a:r>
          </a:p>
        </p:txBody>
      </p:sp>
    </p:spTree>
    <p:extLst>
      <p:ext uri="{BB962C8B-B14F-4D97-AF65-F5344CB8AC3E}">
        <p14:creationId xmlns:p14="http://schemas.microsoft.com/office/powerpoint/2010/main" val="42505853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7B918-F2F8-BF0B-BA93-1303DCF90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7BED8E-20F7-98F5-9EC8-E0B1A16D1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Metriche per la valutazione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3077590-8142-05D7-14EA-857C2C736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98954"/>
            <a:ext cx="9601200" cy="44681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I tre modelli in questione sono stati comparati in base a tre differenti metriche di valutazione delle prestazioni:</a:t>
            </a:r>
          </a:p>
          <a:p>
            <a:pPr marL="0" indent="0">
              <a:buNone/>
            </a:pPr>
            <a:endParaRPr lang="it-IT" dirty="0"/>
          </a:p>
          <a:p>
            <a:pPr>
              <a:buFont typeface="Courier New" panose="02070309020205020404" pitchFamily="49" charset="0"/>
              <a:buChar char="o"/>
            </a:pPr>
            <a:r>
              <a:rPr lang="it-IT" b="1" dirty="0"/>
              <a:t>RMSE</a:t>
            </a:r>
            <a:r>
              <a:rPr lang="it-IT" dirty="0"/>
              <a:t> (Root Mean </a:t>
            </a:r>
            <a:r>
              <a:rPr lang="it-IT" dirty="0" err="1"/>
              <a:t>Squared</a:t>
            </a:r>
            <a:r>
              <a:rPr lang="it-IT" dirty="0"/>
              <a:t> </a:t>
            </a:r>
            <a:r>
              <a:rPr lang="it-IT" dirty="0" err="1"/>
              <a:t>Error</a:t>
            </a:r>
            <a:r>
              <a:rPr lang="it-IT" dirty="0"/>
              <a:t>): Misura l'errore medio tra i valori predetti e quelli reali, dando più peso agli errori più grandi.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it-IT" b="1" dirty="0"/>
              <a:t>MAE</a:t>
            </a:r>
            <a:r>
              <a:rPr lang="it-IT" dirty="0"/>
              <a:t> (Mean Absolute </a:t>
            </a:r>
            <a:r>
              <a:rPr lang="it-IT" dirty="0" err="1"/>
              <a:t>Error</a:t>
            </a:r>
            <a:r>
              <a:rPr lang="it-IT" dirty="0"/>
              <a:t>): Calcola l'errore medio tra i valori predetti e quelli reali, considerando solo il valore assoluto delle differenze, quindi senza penalizzare maggiormente gli errori grandi.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it-IT" b="1" dirty="0"/>
              <a:t>CV</a:t>
            </a:r>
            <a:r>
              <a:rPr lang="it-IT" dirty="0"/>
              <a:t> (</a:t>
            </a:r>
            <a:r>
              <a:rPr lang="it-IT" dirty="0" err="1"/>
              <a:t>Coefficient</a:t>
            </a:r>
            <a:r>
              <a:rPr lang="it-IT" dirty="0"/>
              <a:t> of </a:t>
            </a:r>
            <a:r>
              <a:rPr lang="it-IT" dirty="0" err="1"/>
              <a:t>Variation</a:t>
            </a:r>
            <a:r>
              <a:rPr lang="it-IT" dirty="0"/>
              <a:t>): Esprime la dispersione relativa dell'errore rispetto alla media dei valori reali, utile per confrontare modelli su dataset con scale diverse.</a:t>
            </a:r>
            <a:br>
              <a:rPr lang="it-IT" dirty="0"/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949423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CC9D3-0E73-CE70-550F-90ABC8C9B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52DAC2-069F-5564-C197-5B3343F1C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Confronto modelli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6BC40AB-DA99-B855-CE7B-527773C84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sz="2400" b="1" dirty="0"/>
              <a:t>Gestione delle matrici sparse: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it-IT" b="1" dirty="0"/>
              <a:t>SVD</a:t>
            </a:r>
            <a:r>
              <a:rPr lang="it-IT" dirty="0"/>
              <a:t>: Eccellente con dati sparsi grazie alla capacità di generalizzare attraverso fattori latenti.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it-IT" b="1" dirty="0" err="1"/>
              <a:t>KNNBasic</a:t>
            </a:r>
            <a:r>
              <a:rPr lang="it-IT" dirty="0"/>
              <a:t>: Performance limitata con dati sparsi, richiede sovrapposizione significativa.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it-IT" b="1" dirty="0" err="1"/>
              <a:t>KNNBaseline</a:t>
            </a:r>
            <a:r>
              <a:rPr lang="it-IT" dirty="0"/>
              <a:t>: Migliore di </a:t>
            </a:r>
            <a:r>
              <a:rPr lang="it-IT" dirty="0" err="1"/>
              <a:t>KNNBasic</a:t>
            </a:r>
            <a:r>
              <a:rPr lang="it-IT" dirty="0"/>
              <a:t> con dati sparsi grazie alle stime baseline, ma inferiore a SVD</a:t>
            </a:r>
          </a:p>
        </p:txBody>
      </p:sp>
    </p:spTree>
    <p:extLst>
      <p:ext uri="{BB962C8B-B14F-4D97-AF65-F5344CB8AC3E}">
        <p14:creationId xmlns:p14="http://schemas.microsoft.com/office/powerpoint/2010/main" val="27985781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6FFDB-ED9C-0A9E-1E89-05E87722B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81B0BFB-9DB8-4F7F-516E-C5DA6CFDC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Confronto modelli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AEEC36F-F858-E9D2-E68A-1BDE1661A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sz="2400" b="1" dirty="0"/>
              <a:t>Complessità e velocità:</a:t>
            </a:r>
            <a:endParaRPr lang="it-IT" dirty="0"/>
          </a:p>
          <a:p>
            <a:pPr>
              <a:buFont typeface="Courier New" panose="02070309020205020404" pitchFamily="49" charset="0"/>
              <a:buChar char="o"/>
            </a:pPr>
            <a:r>
              <a:rPr lang="it-IT" b="1" dirty="0"/>
              <a:t>SVD</a:t>
            </a:r>
            <a:r>
              <a:rPr lang="it-IT" dirty="0"/>
              <a:t>: Training iniziale costoso, ma predizioni veloci e richiede tuning di diversi </a:t>
            </a:r>
            <a:r>
              <a:rPr lang="it-IT" dirty="0" err="1"/>
              <a:t>iperparametri</a:t>
            </a:r>
            <a:r>
              <a:rPr lang="it-IT" dirty="0"/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it-IT" b="1" dirty="0" err="1"/>
              <a:t>KNNBasic</a:t>
            </a:r>
            <a:r>
              <a:rPr lang="it-IT" dirty="0"/>
              <a:t>: Nessun training significativo ma predizioni lente con dataset grandi.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it-IT" b="1" dirty="0" err="1"/>
              <a:t>KNNBaseline</a:t>
            </a:r>
            <a:r>
              <a:rPr lang="it-IT" dirty="0"/>
              <a:t>: Necessita calcolo baseline ma offre miglior equilibrio tra accuratezza e complessità.</a:t>
            </a:r>
          </a:p>
        </p:txBody>
      </p:sp>
    </p:spTree>
    <p:extLst>
      <p:ext uri="{BB962C8B-B14F-4D97-AF65-F5344CB8AC3E}">
        <p14:creationId xmlns:p14="http://schemas.microsoft.com/office/powerpoint/2010/main" val="31342049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B2BE3-EDC1-ED75-26D2-9617EE86F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F4A51D-97D8-C43E-11F2-FBEAA73FB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Confronto modelli</a:t>
            </a:r>
          </a:p>
        </p:txBody>
      </p:sp>
      <p:graphicFrame>
        <p:nvGraphicFramePr>
          <p:cNvPr id="6" name="Segnaposto contenuto 5">
            <a:extLst>
              <a:ext uri="{FF2B5EF4-FFF2-40B4-BE49-F238E27FC236}">
                <a16:creationId xmlns:a16="http://schemas.microsoft.com/office/drawing/2014/main" id="{D5136E12-9000-830B-08FB-84494D3118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7343967"/>
              </p:ext>
            </p:extLst>
          </p:nvPr>
        </p:nvGraphicFramePr>
        <p:xfrm>
          <a:off x="1371600" y="2286000"/>
          <a:ext cx="9601200" cy="3581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517569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A6613-D7BF-7E1E-32CB-5040C82AB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3CC734-120E-718D-D4A9-845B29AC7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Confronto modelli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AFD830E-1C64-83B1-C8BA-8B99BDE90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984248"/>
            <a:ext cx="9601200" cy="3581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400" b="1" dirty="0"/>
              <a:t>Considerazioni: </a:t>
            </a:r>
            <a:br>
              <a:rPr lang="it-IT" b="1" dirty="0"/>
            </a:br>
            <a:endParaRPr lang="it-IT" dirty="0"/>
          </a:p>
          <a:p>
            <a:pPr>
              <a:buFont typeface="Wingdings" panose="05000000000000000000" pitchFamily="2" charset="2"/>
              <a:buChar char="§"/>
            </a:pPr>
            <a:r>
              <a:rPr lang="it-IT" dirty="0" err="1"/>
              <a:t>KNNBaseline</a:t>
            </a:r>
            <a:r>
              <a:rPr lang="it-IT" dirty="0"/>
              <a:t> ha mostrato prestazioni inferiori rispetto a </a:t>
            </a:r>
            <a:r>
              <a:rPr lang="it-IT" dirty="0" err="1"/>
              <a:t>KNNBasic</a:t>
            </a:r>
            <a:r>
              <a:rPr lang="it-IT" dirty="0"/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it-IT" b="1" dirty="0"/>
              <a:t>SVD ha ottenuto:</a:t>
            </a:r>
            <a:r>
              <a:rPr lang="it-IT" dirty="0"/>
              <a:t>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it-IT" b="1" dirty="0"/>
              <a:t>RMSE</a:t>
            </a:r>
            <a:r>
              <a:rPr lang="it-IT" dirty="0"/>
              <a:t>: 0.847 (</a:t>
            </a:r>
            <a:r>
              <a:rPr lang="it-IT" b="1" dirty="0"/>
              <a:t>vs.</a:t>
            </a:r>
            <a:r>
              <a:rPr lang="it-IT" dirty="0"/>
              <a:t> 0.867 del </a:t>
            </a:r>
            <a:r>
              <a:rPr lang="it-IT" dirty="0" err="1"/>
              <a:t>KNNBaseline</a:t>
            </a:r>
            <a:r>
              <a:rPr lang="it-IT" dirty="0"/>
              <a:t>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it-IT" b="1" dirty="0"/>
              <a:t>MAE</a:t>
            </a:r>
            <a:r>
              <a:rPr lang="it-IT" dirty="0"/>
              <a:t>: 0.649 (</a:t>
            </a:r>
            <a:r>
              <a:rPr lang="it-IT" b="1" dirty="0"/>
              <a:t>vs.</a:t>
            </a:r>
            <a:r>
              <a:rPr lang="it-IT" dirty="0"/>
              <a:t> 0.667 del </a:t>
            </a:r>
            <a:r>
              <a:rPr lang="it-IT" dirty="0" err="1"/>
              <a:t>KNNBaseline</a:t>
            </a:r>
            <a:r>
              <a:rPr lang="it-IT" dirty="0"/>
              <a:t>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it-IT" b="1" dirty="0"/>
              <a:t>CV: </a:t>
            </a:r>
            <a:r>
              <a:rPr lang="it-IT" dirty="0"/>
              <a:t>0.863 (</a:t>
            </a:r>
            <a:r>
              <a:rPr lang="it-IT" b="1" dirty="0"/>
              <a:t>vs.</a:t>
            </a:r>
            <a:r>
              <a:rPr lang="it-IT" dirty="0"/>
              <a:t> 0.881 del </a:t>
            </a:r>
            <a:r>
              <a:rPr lang="it-IT" dirty="0" err="1"/>
              <a:t>KNNBaseline</a:t>
            </a:r>
            <a:r>
              <a:rPr lang="it-IT" dirty="0"/>
              <a:t>)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it-IT" dirty="0"/>
          </a:p>
          <a:p>
            <a:pPr marL="342900" lvl="1" indent="-342900">
              <a:buFont typeface="Wingdings" panose="05000000000000000000" pitchFamily="2" charset="2"/>
              <a:buChar char="§"/>
            </a:pPr>
            <a:r>
              <a:rPr lang="it-IT" dirty="0"/>
              <a:t>I modelli </a:t>
            </a:r>
            <a:r>
              <a:rPr lang="it-IT" b="1" dirty="0"/>
              <a:t>KNN</a:t>
            </a:r>
            <a:r>
              <a:rPr lang="it-IT" dirty="0"/>
              <a:t> sono stati esclusi, mentre l'analisi è proseguita con </a:t>
            </a:r>
            <a:r>
              <a:rPr lang="it-IT" b="1" dirty="0"/>
              <a:t>SVD.</a:t>
            </a:r>
            <a:endParaRPr lang="it-IT" dirty="0"/>
          </a:p>
          <a:p>
            <a:pPr lvl="1">
              <a:buFont typeface="Arial" panose="020B0604020202020204" pitchFamily="34" charset="0"/>
              <a:buChar char="•"/>
            </a:pPr>
            <a:endParaRPr lang="it-IT" dirty="0"/>
          </a:p>
          <a:p>
            <a:pPr>
              <a:buFont typeface="Wingdings" panose="05000000000000000000" pitchFamily="2" charset="2"/>
              <a:buChar char="§"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279896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000CB-320C-80FD-708A-24EE8E12E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EEF1C0-36EE-0BEC-E640-502D3D915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Metriche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FD78F429-226B-9751-0B83-171033F4CA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495425"/>
                <a:ext cx="9601200" cy="51435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r>
                  <a:rPr lang="it-IT" dirty="0"/>
                  <a:t>Altre metriche di valutazione delle prestazioni:</a:t>
                </a:r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it-IT" b="1" dirty="0"/>
                  <a:t>Precision: </a:t>
                </a:r>
                <a:r>
                  <a:rPr lang="it-IT" dirty="0"/>
                  <a:t>indica la percentuale di raccomandazioni che sono effettivamente rilevanti. </a:t>
                </a:r>
              </a:p>
              <a:p>
                <a:pPr marL="0" indent="0">
                  <a:buNone/>
                </a:pPr>
                <a:r>
                  <a:rPr lang="it-IT" b="1" i="1" dirty="0">
                    <a:latin typeface="Cambria Math" panose="02040503050406030204" pitchFamily="18" charset="0"/>
                  </a:rPr>
                  <a:t>		</a:t>
                </a:r>
                <a:r>
                  <a:rPr lang="it-IT" b="1" dirty="0">
                    <a:latin typeface="Cambria Math" panose="02040503050406030204" pitchFamily="18" charset="0"/>
                  </a:rPr>
                  <a:t>Precision</a:t>
                </a:r>
                <a:r>
                  <a:rPr lang="it-IT" b="1" dirty="0"/>
                  <a:t> </a:t>
                </a:r>
                <a14:m>
                  <m:oMath xmlns:m="http://schemas.openxmlformats.org/officeDocument/2006/math">
                    <m:r>
                      <a:rPr lang="it-IT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𝑵𝒖𝒎𝒆𝒓𝒐</m:t>
                        </m:r>
                        <m:r>
                          <a:rPr lang="it-IT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𝒅𝒊</m:t>
                        </m:r>
                        <m:r>
                          <a:rPr lang="it-IT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𝒓𝒊𝒍𝒆𝒗𝒂𝒏𝒕𝒊</m:t>
                        </m:r>
                        <m:r>
                          <a:rPr lang="it-IT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𝒓𝒂𝒄𝒄𝒐𝒎𝒂𝒏𝒅𝒂𝒕𝒊</m:t>
                        </m:r>
                      </m:num>
                      <m:den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𝑵𝒖𝒎𝒆𝒓𝒐</m:t>
                        </m:r>
                        <m:r>
                          <a:rPr lang="it-IT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𝒅𝒊</m:t>
                        </m:r>
                        <m:r>
                          <a:rPr lang="it-IT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𝒆𝒍𝒆𝒎𝒆𝒏𝒕𝒊</m:t>
                        </m:r>
                        <m:r>
                          <a:rPr lang="it-IT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𝒓𝒂𝒄𝒄𝒐𝒎𝒂𝒏𝒅𝒂𝒕𝒊</m:t>
                        </m:r>
                      </m:den>
                    </m:f>
                    <m:r>
                      <a:rPr lang="it-IT" b="1" i="1">
                        <a:latin typeface="Cambria Math" panose="02040503050406030204" pitchFamily="18" charset="0"/>
                      </a:rPr>
                      <m:t>​</m:t>
                    </m:r>
                  </m:oMath>
                </a14:m>
                <a:endParaRPr lang="it-IT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it-IT" b="1" dirty="0"/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it-IT" b="1" dirty="0"/>
                  <a:t>Recall: </a:t>
                </a:r>
                <a:r>
                  <a:rPr lang="it-IT" dirty="0"/>
                  <a:t>misura la capacità del modello di raccomandare tutti gli oggetti rilevanti.</a:t>
                </a:r>
              </a:p>
              <a:p>
                <a:pPr marL="0" indent="0">
                  <a:buNone/>
                </a:pPr>
                <a:r>
                  <a:rPr lang="it-IT" b="1" i="1" dirty="0">
                    <a:latin typeface="Cambria Math" panose="02040503050406030204" pitchFamily="18" charset="0"/>
                  </a:rPr>
                  <a:t>		</a:t>
                </a:r>
                <a:r>
                  <a:rPr lang="it-IT" b="1" dirty="0">
                    <a:latin typeface="Cambria Math" panose="02040503050406030204" pitchFamily="18" charset="0"/>
                  </a:rPr>
                  <a:t>Recall</a:t>
                </a:r>
                <a:r>
                  <a:rPr lang="it-IT" b="1" dirty="0"/>
                  <a:t> </a:t>
                </a:r>
                <a14:m>
                  <m:oMath xmlns:m="http://schemas.openxmlformats.org/officeDocument/2006/math">
                    <m:r>
                      <a:rPr lang="it-IT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𝑵𝒖𝒎𝒆𝒓𝒐</m:t>
                        </m:r>
                        <m:r>
                          <a:rPr lang="it-IT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𝒅𝒊</m:t>
                        </m:r>
                        <m:r>
                          <a:rPr lang="it-IT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𝒓𝒊𝒍𝒆𝒗𝒂𝒏𝒕𝒊</m:t>
                        </m:r>
                        <m:r>
                          <a:rPr lang="it-IT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𝒓𝒂𝒄𝒄𝒐𝒎𝒂𝒏𝒅𝒂𝒕𝒊</m:t>
                        </m:r>
                      </m:num>
                      <m:den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𝑵𝒖𝒎𝒆𝒓𝒐</m:t>
                        </m:r>
                        <m:r>
                          <a:rPr lang="it-IT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𝒅𝒊</m:t>
                        </m:r>
                        <m:r>
                          <a:rPr lang="it-IT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𝒓𝒊𝒍𝒆𝒗𝒂𝒏𝒕𝒊</m:t>
                        </m:r>
                        <m:r>
                          <a:rPr lang="it-IT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𝒕𝒐𝒕𝒂𝒍𝒊</m:t>
                        </m:r>
                      </m:den>
                    </m:f>
                    <m:r>
                      <a:rPr lang="it-IT" b="1" i="1">
                        <a:latin typeface="Cambria Math" panose="02040503050406030204" pitchFamily="18" charset="0"/>
                      </a:rPr>
                      <m:t>​</m:t>
                    </m:r>
                  </m:oMath>
                </a14:m>
                <a:endParaRPr lang="it-IT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FD78F429-226B-9751-0B83-171033F4CA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495425"/>
                <a:ext cx="9601200" cy="5143500"/>
              </a:xfrm>
              <a:blipFill>
                <a:blip r:embed="rId2"/>
                <a:stretch>
                  <a:fillRect l="-63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52160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96D95-042D-5232-5786-E942256ED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35CD112-85B2-EE7F-F51D-54647A464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Confronto modelli</a:t>
            </a:r>
          </a:p>
        </p:txBody>
      </p:sp>
      <p:graphicFrame>
        <p:nvGraphicFramePr>
          <p:cNvPr id="6" name="Segnaposto contenuto 5">
            <a:extLst>
              <a:ext uri="{FF2B5EF4-FFF2-40B4-BE49-F238E27FC236}">
                <a16:creationId xmlns:a16="http://schemas.microsoft.com/office/drawing/2014/main" id="{2B839AB1-FECA-8C75-A55B-8832499751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2524042"/>
              </p:ext>
            </p:extLst>
          </p:nvPr>
        </p:nvGraphicFramePr>
        <p:xfrm>
          <a:off x="1371600" y="2286000"/>
          <a:ext cx="9601200" cy="3581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112733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97615-62AD-069A-9934-4C8CEB576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58D97B-1CEE-872E-D1D8-5D762EDD6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Confronto modelli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0FBC01F-6612-8F24-2F87-8AF39553E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sz="2400" b="1" dirty="0"/>
              <a:t>Considerazioni: </a:t>
            </a:r>
            <a:br>
              <a:rPr lang="it-IT" b="1" dirty="0"/>
            </a:br>
            <a:endParaRPr lang="it-IT" b="1" dirty="0"/>
          </a:p>
          <a:p>
            <a:r>
              <a:rPr lang="it-IT" dirty="0"/>
              <a:t>Il grafico mostra che SVD ha i valori più alti in entrambe le metriche, indicando una maggiore accuratezza e completezza.</a:t>
            </a:r>
          </a:p>
          <a:p>
            <a:r>
              <a:rPr lang="it-IT" dirty="0"/>
              <a:t>Tutti i modelli mostrano una Recall superiore alla Precision, suggerendo una strategia che privilegia la scoperta di elementi rilevanti anche a costo di includere alcuni elementi meno pertinenti.</a:t>
            </a:r>
          </a:p>
          <a:p>
            <a:pPr>
              <a:buFont typeface="Wingdings" panose="05000000000000000000" pitchFamily="2" charset="2"/>
              <a:buChar char="§"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629434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2299B-4B3D-640D-13FA-713B4DF70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3DE156-79F0-3B1A-6367-CB0E84472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1622" y="3119828"/>
            <a:ext cx="3268755" cy="618344"/>
          </a:xfrm>
        </p:spPr>
        <p:txBody>
          <a:bodyPr>
            <a:normAutofit fontScale="90000"/>
          </a:bodyPr>
          <a:lstStyle/>
          <a:p>
            <a:r>
              <a:rPr lang="it-IT" dirty="0"/>
              <a:t>APPLICAZIONI</a:t>
            </a:r>
          </a:p>
        </p:txBody>
      </p:sp>
    </p:spTree>
    <p:extLst>
      <p:ext uri="{BB962C8B-B14F-4D97-AF65-F5344CB8AC3E}">
        <p14:creationId xmlns:p14="http://schemas.microsoft.com/office/powerpoint/2010/main" val="9584287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F1FA8C-87A4-29FE-E2BD-ED42F4A25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0"/>
            <a:ext cx="9601200" cy="1485900"/>
          </a:xfrm>
        </p:spPr>
        <p:txBody>
          <a:bodyPr/>
          <a:lstStyle/>
          <a:p>
            <a:r>
              <a:rPr lang="it-IT" dirty="0"/>
              <a:t>Raccomandazioni</a:t>
            </a:r>
            <a:br>
              <a:rPr lang="it-IT" dirty="0"/>
            </a:b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j-ea"/>
                <a:cs typeface="+mj-cs"/>
              </a:rPr>
              <a:t>Sezione Per Te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15CED1D-A31D-CCBE-B69D-C48BEB615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925" y="1069848"/>
            <a:ext cx="9601200" cy="3581400"/>
          </a:xfrm>
        </p:spPr>
        <p:txBody>
          <a:bodyPr/>
          <a:lstStyle/>
          <a:p>
            <a:r>
              <a:rPr lang="it-IT" b="1" dirty="0"/>
              <a:t>L’idea:</a:t>
            </a:r>
            <a:r>
              <a:rPr lang="it-IT" dirty="0"/>
              <a:t> Scelto un utente selezioniamo i 10 film con </a:t>
            </a:r>
            <a:r>
              <a:rPr lang="it-IT" i="1" dirty="0" err="1"/>
              <a:t>estimated_rating</a:t>
            </a:r>
            <a:r>
              <a:rPr lang="it-IT" dirty="0"/>
              <a:t> più alto dal file generato dal modello SVD</a:t>
            </a:r>
          </a:p>
          <a:p>
            <a:r>
              <a:rPr lang="it-IT" b="1" dirty="0"/>
              <a:t>Prendiamo in esempio questo utente con i seguenti generi preferiti:</a:t>
            </a:r>
          </a:p>
        </p:txBody>
      </p:sp>
      <p:pic>
        <p:nvPicPr>
          <p:cNvPr id="4104" name="Picture 8">
            <a:extLst>
              <a:ext uri="{FF2B5EF4-FFF2-40B4-BE49-F238E27FC236}">
                <a16:creationId xmlns:a16="http://schemas.microsoft.com/office/drawing/2014/main" id="{6070ED8E-75EF-7086-2FC4-AA975A1C73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175" y="2181225"/>
            <a:ext cx="8629650" cy="427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CAD3CD10-6FE1-DDB3-D438-C676DD95DFEA}"/>
              </a:ext>
            </a:extLst>
          </p:cNvPr>
          <p:cNvSpPr/>
          <p:nvPr/>
        </p:nvSpPr>
        <p:spPr>
          <a:xfrm>
            <a:off x="2048256" y="3520440"/>
            <a:ext cx="8284464" cy="2450592"/>
          </a:xfrm>
          <a:prstGeom prst="rect">
            <a:avLst/>
          </a:prstGeom>
          <a:solidFill>
            <a:srgbClr val="000000">
              <a:alpha val="6117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16565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954F5-C7CC-8EA1-3F23-80D86BB88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CCA29E9-07D1-D2E4-393B-79B602F9A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0"/>
            <a:ext cx="9601200" cy="1485900"/>
          </a:xfrm>
        </p:spPr>
        <p:txBody>
          <a:bodyPr/>
          <a:lstStyle/>
          <a:p>
            <a:r>
              <a:rPr lang="it-IT" dirty="0"/>
              <a:t>Raccomandazioni</a:t>
            </a:r>
            <a:br>
              <a:rPr lang="it-IT" dirty="0"/>
            </a:b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j-ea"/>
                <a:cs typeface="+mj-cs"/>
              </a:rPr>
              <a:t>Sezione Per Te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C6341CB-5A4D-337A-EAB0-8A1D4040C3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925" y="1069848"/>
            <a:ext cx="9601200" cy="3581400"/>
          </a:xfrm>
        </p:spPr>
        <p:txBody>
          <a:bodyPr/>
          <a:lstStyle/>
          <a:p>
            <a:r>
              <a:rPr lang="it-IT" dirty="0"/>
              <a:t>Dalla slide precedente evidenziamo come i film che hanno voti migliori e in maggior numero sono del genere </a:t>
            </a:r>
            <a:r>
              <a:rPr lang="it-IT" b="1" dirty="0"/>
              <a:t>Drama</a:t>
            </a:r>
            <a:r>
              <a:rPr lang="it-IT" dirty="0"/>
              <a:t>, </a:t>
            </a:r>
            <a:r>
              <a:rPr lang="it-IT" b="1" dirty="0"/>
              <a:t>Crime, Romance, Comedy e Thriller</a:t>
            </a:r>
          </a:p>
          <a:p>
            <a:r>
              <a:rPr lang="it-IT" dirty="0"/>
              <a:t>I film consigliati (con </a:t>
            </a:r>
            <a:r>
              <a:rPr lang="it-IT" i="1" dirty="0" err="1"/>
              <a:t>estimated_rating</a:t>
            </a:r>
            <a:r>
              <a:rPr lang="it-IT" i="1" dirty="0"/>
              <a:t> </a:t>
            </a:r>
            <a:r>
              <a:rPr lang="it-IT" dirty="0"/>
              <a:t>più alto) sono prevalentemente dei seguenti generi:</a:t>
            </a:r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75081FFF-4B56-FDC9-4C0E-001D81E76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725" y="2638425"/>
            <a:ext cx="7191989" cy="3806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C70128F8-5F92-6815-4794-35FBD9D55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0870" y="3127050"/>
            <a:ext cx="1829055" cy="282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7453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07C13-A521-452C-E2E9-6069357A1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E53DD18-ED65-6705-8356-4D131B81F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0"/>
            <a:ext cx="9601200" cy="1485900"/>
          </a:xfrm>
        </p:spPr>
        <p:txBody>
          <a:bodyPr/>
          <a:lstStyle/>
          <a:p>
            <a:r>
              <a:rPr lang="it-IT" dirty="0"/>
              <a:t>Raccomandazioni</a:t>
            </a:r>
            <a:br>
              <a:rPr lang="it-IT" dirty="0"/>
            </a:b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j-ea"/>
                <a:cs typeface="+mj-cs"/>
              </a:rPr>
              <a:t>Sezione Per Te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A42C85E-15D2-9228-3027-6A784889B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925" y="1069848"/>
            <a:ext cx="9601200" cy="3581400"/>
          </a:xfrm>
        </p:spPr>
        <p:txBody>
          <a:bodyPr/>
          <a:lstStyle/>
          <a:p>
            <a:r>
              <a:rPr lang="it-IT" dirty="0"/>
              <a:t>Questo tipo di raccomandazione predilige film più </a:t>
            </a:r>
            <a:r>
              <a:rPr lang="it-IT" b="1" dirty="0"/>
              <a:t>popolari</a:t>
            </a:r>
          </a:p>
          <a:p>
            <a:r>
              <a:rPr lang="it-IT" dirty="0"/>
              <a:t>L’idea è consigliare i film che massimizzano l’</a:t>
            </a:r>
            <a:r>
              <a:rPr lang="it-IT" i="1" dirty="0" err="1"/>
              <a:t>expected</a:t>
            </a:r>
            <a:r>
              <a:rPr lang="it-IT" i="1" dirty="0"/>
              <a:t> utility </a:t>
            </a:r>
            <a:r>
              <a:rPr lang="it-IT" dirty="0"/>
              <a:t>(voto stimato più alto)</a:t>
            </a:r>
          </a:p>
          <a:p>
            <a:r>
              <a:rPr lang="it-IT" dirty="0"/>
              <a:t>Infatti il voto stimato dei 10 film consigliati (per l’utente preso in esempio) è il seguente: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C7E9410E-AB75-2BD9-1F40-EB061D86C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914" y="2860548"/>
            <a:ext cx="9650172" cy="3238952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44C73667-4905-7F52-5C67-0D3DE9A4AFF5}"/>
              </a:ext>
            </a:extLst>
          </p:cNvPr>
          <p:cNvSpPr/>
          <p:nvPr/>
        </p:nvSpPr>
        <p:spPr>
          <a:xfrm>
            <a:off x="4811843" y="2860548"/>
            <a:ext cx="1284157" cy="3238952"/>
          </a:xfrm>
          <a:prstGeom prst="rect">
            <a:avLst/>
          </a:prstGeom>
          <a:noFill/>
          <a:ln w="381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2650216993">
                  <a:custGeom>
                    <a:avLst/>
                    <a:gdLst>
                      <a:gd name="connsiteX0" fmla="*/ 0 w 1284157"/>
                      <a:gd name="connsiteY0" fmla="*/ 0 h 3238952"/>
                      <a:gd name="connsiteX1" fmla="*/ 1284157 w 1284157"/>
                      <a:gd name="connsiteY1" fmla="*/ 0 h 3238952"/>
                      <a:gd name="connsiteX2" fmla="*/ 1284157 w 1284157"/>
                      <a:gd name="connsiteY2" fmla="*/ 3238952 h 3238952"/>
                      <a:gd name="connsiteX3" fmla="*/ 0 w 1284157"/>
                      <a:gd name="connsiteY3" fmla="*/ 3238952 h 3238952"/>
                      <a:gd name="connsiteX4" fmla="*/ 0 w 1284157"/>
                      <a:gd name="connsiteY4" fmla="*/ 0 h 32389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84157" h="3238952" extrusionOk="0">
                        <a:moveTo>
                          <a:pt x="0" y="0"/>
                        </a:moveTo>
                        <a:cubicBezTo>
                          <a:pt x="251015" y="73610"/>
                          <a:pt x="1036426" y="106906"/>
                          <a:pt x="1284157" y="0"/>
                        </a:cubicBezTo>
                        <a:cubicBezTo>
                          <a:pt x="1155984" y="433511"/>
                          <a:pt x="1413307" y="2096409"/>
                          <a:pt x="1284157" y="3238952"/>
                        </a:cubicBezTo>
                        <a:cubicBezTo>
                          <a:pt x="1028270" y="3127591"/>
                          <a:pt x="507727" y="3309338"/>
                          <a:pt x="0" y="3238952"/>
                        </a:cubicBezTo>
                        <a:cubicBezTo>
                          <a:pt x="160128" y="2418303"/>
                          <a:pt x="25049" y="78083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6" name="Connettore curvo 5">
            <a:extLst>
              <a:ext uri="{FF2B5EF4-FFF2-40B4-BE49-F238E27FC236}">
                <a16:creationId xmlns:a16="http://schemas.microsoft.com/office/drawing/2014/main" id="{C563CDCB-973B-2ED6-359F-60A14CB5858C}"/>
              </a:ext>
            </a:extLst>
          </p:cNvPr>
          <p:cNvCxnSpPr>
            <a:cxnSpLocks/>
          </p:cNvCxnSpPr>
          <p:nvPr/>
        </p:nvCxnSpPr>
        <p:spPr>
          <a:xfrm>
            <a:off x="7708392" y="1252728"/>
            <a:ext cx="3163722" cy="1607820"/>
          </a:xfrm>
          <a:prstGeom prst="curvedConnector3">
            <a:avLst>
              <a:gd name="adj1" fmla="val 105782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0273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74A80-1340-9BFF-8134-2511E3709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CFF6E5-2511-7E0E-F96F-F3929BD0E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0"/>
            <a:ext cx="9601200" cy="1485900"/>
          </a:xfrm>
        </p:spPr>
        <p:txBody>
          <a:bodyPr/>
          <a:lstStyle/>
          <a:p>
            <a:r>
              <a:rPr lang="it-IT" dirty="0"/>
              <a:t>Raccomandazioni</a:t>
            </a:r>
            <a:br>
              <a:rPr lang="it-IT" dirty="0"/>
            </a:b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j-ea"/>
                <a:cs typeface="+mj-cs"/>
              </a:rPr>
              <a:t>Sezione Per Te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D6FC4EB-874D-8028-A4C0-ED201459F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925" y="1069848"/>
            <a:ext cx="9601200" cy="3581400"/>
          </a:xfrm>
        </p:spPr>
        <p:txBody>
          <a:bodyPr/>
          <a:lstStyle/>
          <a:p>
            <a:r>
              <a:rPr lang="it-IT" dirty="0"/>
              <a:t>Calcolato i </a:t>
            </a:r>
            <a:r>
              <a:rPr lang="it-IT" b="1" dirty="0" err="1"/>
              <a:t>latent</a:t>
            </a:r>
            <a:r>
              <a:rPr lang="it-IT" b="1" dirty="0"/>
              <a:t> </a:t>
            </a:r>
            <a:r>
              <a:rPr lang="it-IT" b="1" dirty="0" err="1"/>
              <a:t>factor</a:t>
            </a:r>
            <a:r>
              <a:rPr lang="it-IT" b="1" dirty="0"/>
              <a:t> </a:t>
            </a:r>
            <a:r>
              <a:rPr lang="it-IT" b="1" dirty="0" err="1"/>
              <a:t>vector</a:t>
            </a:r>
            <a:r>
              <a:rPr lang="it-IT" b="1" dirty="0"/>
              <a:t> </a:t>
            </a:r>
            <a:r>
              <a:rPr lang="it-IT" dirty="0"/>
              <a:t>dei film affini e dei film meno affini possiamo verificare come i film più vicini ai gusti dell’utente lo sono anche graficamente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AEF2C208-53C6-E145-1831-E50A62623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8150" y="1838379"/>
            <a:ext cx="6735699" cy="4811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525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BE374-63A9-47FC-1719-091D2DC2D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7DAA8E-C4B2-238F-F804-885ADC742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0"/>
            <a:ext cx="9601200" cy="1485900"/>
          </a:xfrm>
        </p:spPr>
        <p:txBody>
          <a:bodyPr/>
          <a:lstStyle/>
          <a:p>
            <a:r>
              <a:rPr lang="it-IT" dirty="0"/>
              <a:t>Raccomandazioni</a:t>
            </a:r>
            <a:br>
              <a:rPr lang="it-IT" dirty="0"/>
            </a:b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j-ea"/>
                <a:cs typeface="+mj-cs"/>
              </a:rPr>
              <a:t>Sezione Per Te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0B60459-B7A4-A945-5289-0EB39CC68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925" y="1069848"/>
            <a:ext cx="9601200" cy="3581400"/>
          </a:xfrm>
        </p:spPr>
        <p:txBody>
          <a:bodyPr/>
          <a:lstStyle/>
          <a:p>
            <a:r>
              <a:rPr lang="it-IT" dirty="0"/>
              <a:t>I film consigliati sono in prevalenza dei generi preferiti dell’utente</a:t>
            </a:r>
          </a:p>
          <a:p>
            <a:r>
              <a:rPr lang="it-IT" dirty="0"/>
              <a:t>Appurato ciò procediamo con la query a </a:t>
            </a:r>
            <a:r>
              <a:rPr lang="it-IT" b="1" dirty="0" err="1"/>
              <a:t>DBPedia</a:t>
            </a:r>
            <a:r>
              <a:rPr lang="it-IT" b="1" dirty="0"/>
              <a:t> </a:t>
            </a:r>
            <a:r>
              <a:rPr lang="it-IT" dirty="0"/>
              <a:t>per ottenere le informazioni riguardo i 10 film consigliati:</a:t>
            </a:r>
          </a:p>
          <a:p>
            <a:r>
              <a:rPr lang="it-IT" b="1" dirty="0"/>
              <a:t>Query: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3615C2B-9CFA-6CAA-920E-97D413512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875" y="2919508"/>
            <a:ext cx="8121151" cy="32383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32061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36CC1-1BCC-1B14-D0C9-F529E90FB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FC273D-C453-B0F2-14FD-5B63E61B0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0"/>
            <a:ext cx="9601200" cy="1485900"/>
          </a:xfrm>
        </p:spPr>
        <p:txBody>
          <a:bodyPr/>
          <a:lstStyle/>
          <a:p>
            <a:r>
              <a:rPr lang="it-IT" dirty="0"/>
              <a:t>Raccomandazioni</a:t>
            </a:r>
            <a:br>
              <a:rPr lang="it-IT" dirty="0"/>
            </a:b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j-ea"/>
                <a:cs typeface="+mj-cs"/>
              </a:rPr>
              <a:t>Sezione Per Te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2552C48-BF80-B4A9-F8B7-ABDAEE35E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925" y="1069848"/>
            <a:ext cx="9601200" cy="3581400"/>
          </a:xfrm>
        </p:spPr>
        <p:txBody>
          <a:bodyPr/>
          <a:lstStyle/>
          <a:p>
            <a:r>
              <a:rPr lang="it-IT" b="1" dirty="0"/>
              <a:t>Esempio di interfaccia: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6E23043-A3CD-31B9-5219-0608F61DA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184" y="1485900"/>
            <a:ext cx="5987016" cy="34283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B804CD44-A173-298F-7868-FA5656D32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4765" y="2008335"/>
            <a:ext cx="5037531" cy="4610065"/>
          </a:xfrm>
          <a:prstGeom prst="rect">
            <a:avLst/>
          </a:prstGeom>
          <a:scene3d>
            <a:camera prst="isometricOffAxis2Lef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25829356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9AAED-B553-1EE5-4BDF-1F06A5743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7E450F9-F476-9591-AD41-607D6BCE0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277168"/>
            <a:ext cx="9601200" cy="1485900"/>
          </a:xfrm>
        </p:spPr>
        <p:txBody>
          <a:bodyPr/>
          <a:lstStyle/>
          <a:p>
            <a:r>
              <a:rPr lang="it-IT" dirty="0"/>
              <a:t>Raccomandazioni</a:t>
            </a:r>
            <a:br>
              <a:rPr lang="it-IT" dirty="0"/>
            </a:b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j-ea"/>
                <a:cs typeface="+mj-cs"/>
              </a:rPr>
              <a:t>Sezione Scopri di Più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42E4E58-EFAB-5AE7-0BD4-369E0B58D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925" y="1534693"/>
            <a:ext cx="10618501" cy="5046139"/>
          </a:xfrm>
        </p:spPr>
        <p:txBody>
          <a:bodyPr/>
          <a:lstStyle/>
          <a:p>
            <a:r>
              <a:rPr lang="it-IT" b="1" dirty="0"/>
              <a:t>Obiettivo:  </a:t>
            </a:r>
            <a:r>
              <a:rPr lang="it-IT" dirty="0"/>
              <a:t>L’idea alla base è quella di voler creare una sezione che possa bilanciare </a:t>
            </a:r>
            <a:r>
              <a:rPr lang="it-IT" b="1" dirty="0" err="1"/>
              <a:t>exploration</a:t>
            </a:r>
            <a:r>
              <a:rPr lang="it-IT" b="1" dirty="0"/>
              <a:t> </a:t>
            </a:r>
            <a:r>
              <a:rPr lang="it-IT" dirty="0"/>
              <a:t>ed</a:t>
            </a:r>
            <a:r>
              <a:rPr lang="it-IT" b="1" dirty="0"/>
              <a:t> exploitation</a:t>
            </a:r>
          </a:p>
          <a:p>
            <a:endParaRPr lang="it-IT" dirty="0"/>
          </a:p>
          <a:p>
            <a:r>
              <a:rPr lang="it-IT" b="1" dirty="0"/>
              <a:t>Tecnica principale:</a:t>
            </a:r>
            <a:r>
              <a:rPr lang="it-IT" dirty="0"/>
              <a:t> La tecnica che abbiamo utilizzato è stata </a:t>
            </a:r>
            <a:r>
              <a:rPr lang="it-IT" b="1" dirty="0"/>
              <a:t>UCB</a:t>
            </a:r>
            <a:r>
              <a:rPr lang="it-IT" dirty="0"/>
              <a:t> (Upper Confidence </a:t>
            </a:r>
            <a:r>
              <a:rPr lang="it-IT" dirty="0" err="1"/>
              <a:t>Bound</a:t>
            </a:r>
            <a:r>
              <a:rPr lang="it-IT" dirty="0"/>
              <a:t>)</a:t>
            </a:r>
          </a:p>
          <a:p>
            <a:endParaRPr lang="it-IT" dirty="0"/>
          </a:p>
          <a:p>
            <a:r>
              <a:rPr lang="it-IT" b="1" dirty="0"/>
              <a:t>Implementazione</a:t>
            </a:r>
            <a:r>
              <a:rPr lang="it-IT" dirty="0"/>
              <a:t>: Come nella sezione dei Per Te, generiamo una matrice di </a:t>
            </a:r>
            <a:r>
              <a:rPr lang="it-IT" dirty="0" err="1"/>
              <a:t>expected</a:t>
            </a:r>
            <a:r>
              <a:rPr lang="it-IT" dirty="0"/>
              <a:t> utility per gli utenti, da questa applichiamo la </a:t>
            </a:r>
            <a:r>
              <a:rPr lang="it-IT" b="1" dirty="0"/>
              <a:t>Upper Confidence </a:t>
            </a:r>
            <a:r>
              <a:rPr lang="it-IT" b="1" dirty="0" err="1"/>
              <a:t>Bound</a:t>
            </a:r>
            <a:r>
              <a:rPr lang="it-IT" b="1" dirty="0"/>
              <a:t> </a:t>
            </a:r>
            <a:r>
              <a:rPr lang="it-IT" dirty="0"/>
              <a:t>e selezioniamo i 10 items con </a:t>
            </a:r>
            <a:r>
              <a:rPr lang="it-IT" i="1" dirty="0" err="1"/>
              <a:t>UCB_value</a:t>
            </a:r>
            <a:r>
              <a:rPr lang="it-IT" i="1" dirty="0"/>
              <a:t> </a:t>
            </a:r>
            <a:r>
              <a:rPr lang="it-IT" dirty="0"/>
              <a:t>più alto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41630636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E4E57-8CCA-E517-90CD-F3FAB0772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DB19F7-7CA7-EC71-5BD9-BE1BCA32F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994" y="0"/>
            <a:ext cx="9601200" cy="1485900"/>
          </a:xfrm>
        </p:spPr>
        <p:txBody>
          <a:bodyPr/>
          <a:lstStyle/>
          <a:p>
            <a:r>
              <a:rPr lang="it-IT" dirty="0"/>
              <a:t>Raccomandazioni</a:t>
            </a:r>
            <a:br>
              <a:rPr lang="it-IT" dirty="0"/>
            </a:b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j-ea"/>
                <a:cs typeface="+mj-cs"/>
              </a:rPr>
              <a:t>Sezione Scopri di Più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D3855BD-F570-403D-CF76-97BD4AFA1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6422" y="1055009"/>
            <a:ext cx="10618501" cy="4308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sz="2400" b="1" dirty="0">
                <a:latin typeface="+mj-lt"/>
              </a:rPr>
              <a:t>Exploration VS Exploitation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3EAE9858-7A52-FFF3-2177-B1BF741E0558}"/>
              </a:ext>
            </a:extLst>
          </p:cNvPr>
          <p:cNvSpPr txBox="1">
            <a:spLocks/>
          </p:cNvSpPr>
          <p:nvPr/>
        </p:nvSpPr>
        <p:spPr>
          <a:xfrm>
            <a:off x="926422" y="1811861"/>
            <a:ext cx="10618501" cy="504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b="1" dirty="0"/>
              <a:t>Exploration: </a:t>
            </a:r>
            <a:r>
              <a:rPr lang="it-IT" dirty="0"/>
              <a:t>Indica al sistema di suggerire qualcosa di nuovo o differente da quanto suggerito in precedenza. Il vantaggio principale è una conoscenza più ampia delle preferenze e la possibilità di </a:t>
            </a:r>
            <a:r>
              <a:rPr lang="it-IT" b="1" dirty="0"/>
              <a:t>stupire </a:t>
            </a:r>
            <a:r>
              <a:rPr lang="it-IT" dirty="0"/>
              <a:t>l’utente.</a:t>
            </a:r>
          </a:p>
          <a:p>
            <a:endParaRPr lang="it-IT" dirty="0"/>
          </a:p>
          <a:p>
            <a:r>
              <a:rPr lang="it-IT" b="1" dirty="0"/>
              <a:t>Exploitation</a:t>
            </a:r>
            <a:r>
              <a:rPr lang="it-IT" dirty="0"/>
              <a:t>: Indica al sistema di suggerire quello che si ritiene essere il suo top item. Il vantaggio è il raccomandare solo item che siano rilevanti per l’utente, di contro però ha una conoscenza parziale dell’intero dominio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30888603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83D3D-AEF3-9A98-8688-B8D7CE1F8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261C96-B5DD-4D04-8786-8276D70B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994" y="0"/>
            <a:ext cx="9601200" cy="1485900"/>
          </a:xfrm>
        </p:spPr>
        <p:txBody>
          <a:bodyPr/>
          <a:lstStyle/>
          <a:p>
            <a:r>
              <a:rPr lang="it-IT" dirty="0"/>
              <a:t>Raccomandazioni</a:t>
            </a:r>
            <a:br>
              <a:rPr lang="it-IT" dirty="0"/>
            </a:b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j-ea"/>
                <a:cs typeface="+mj-cs"/>
              </a:rPr>
              <a:t>Sezione Scopri di Più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26F104C-672B-83C6-7766-6C83E6092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6422" y="1055009"/>
            <a:ext cx="10618501" cy="4308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sz="2400" b="1" dirty="0">
                <a:latin typeface="+mj-lt"/>
              </a:rPr>
              <a:t>Algoritmo UCB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97FC075F-9863-83D1-CA03-8DBE245D1B66}"/>
              </a:ext>
            </a:extLst>
          </p:cNvPr>
          <p:cNvSpPr txBox="1">
            <a:spLocks/>
          </p:cNvSpPr>
          <p:nvPr/>
        </p:nvSpPr>
        <p:spPr>
          <a:xfrm>
            <a:off x="926422" y="1811861"/>
            <a:ext cx="10618501" cy="504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egnaposto contenuto 2">
                <a:extLst>
                  <a:ext uri="{FF2B5EF4-FFF2-40B4-BE49-F238E27FC236}">
                    <a16:creationId xmlns:a16="http://schemas.microsoft.com/office/drawing/2014/main" id="{18110D41-37EC-C5B0-D4D6-9A74F723ABF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26422" y="1981200"/>
                <a:ext cx="10618501" cy="366712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84048" indent="-384048" algn="l" defTabSz="914400" rtl="0" eaLnBrk="1" latinLnBrk="0" hangingPunct="1">
                  <a:lnSpc>
                    <a:spcPct val="94000"/>
                  </a:lnSpc>
                  <a:spcBef>
                    <a:spcPts val="10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20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9144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20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13716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8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8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22860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6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7432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6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32004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36576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4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41148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it-IT" dirty="0"/>
                  <a:t>Il problema del </a:t>
                </a:r>
                <a:r>
                  <a:rPr lang="it-IT" b="1" dirty="0"/>
                  <a:t>Multi-</a:t>
                </a:r>
                <a:r>
                  <a:rPr lang="it-IT" b="1" dirty="0" err="1"/>
                  <a:t>Armed</a:t>
                </a:r>
                <a:r>
                  <a:rPr lang="it-IT" b="1" dirty="0"/>
                  <a:t> </a:t>
                </a:r>
                <a:r>
                  <a:rPr lang="it-IT" b="1" dirty="0" err="1"/>
                  <a:t>Bandit</a:t>
                </a:r>
                <a:r>
                  <a:rPr lang="it-IT" dirty="0"/>
                  <a:t> (MAB) consiste nel bilanciare "</a:t>
                </a:r>
                <a:r>
                  <a:rPr lang="it-IT" dirty="0" err="1"/>
                  <a:t>exploration</a:t>
                </a:r>
                <a:r>
                  <a:rPr lang="it-IT" dirty="0"/>
                  <a:t>" e "exploitation" per massimizzare le ricompense. </a:t>
                </a:r>
              </a:p>
              <a:p>
                <a:r>
                  <a:rPr lang="it-IT" dirty="0"/>
                  <a:t>L'algoritmo Upper Confidence </a:t>
                </a:r>
                <a:r>
                  <a:rPr lang="it-IT" dirty="0" err="1"/>
                  <a:t>Bound</a:t>
                </a:r>
                <a:r>
                  <a:rPr lang="it-IT" dirty="0"/>
                  <a:t> (UCB) affronta questo bilanciamento assegnando un limite superiore di confidenza alle azioni, favorendo quelle meno esplorate ma promettenti. </a:t>
                </a:r>
              </a:p>
              <a:p>
                <a:r>
                  <a:rPr lang="it-IT" dirty="0"/>
                  <a:t>Per il calcolo dell’UCB è stato implementato il metodo </a:t>
                </a:r>
                <a:r>
                  <a:rPr lang="it-IT" b="1" dirty="0" err="1"/>
                  <a:t>calculate_UCB</a:t>
                </a:r>
                <a:r>
                  <a:rPr lang="it-IT" b="1" dirty="0"/>
                  <a:t>()</a:t>
                </a:r>
                <a:r>
                  <a:rPr lang="it-IT" dirty="0"/>
                  <a:t> che prende in ingresso: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it-IT" b="1" dirty="0" err="1"/>
                  <a:t>urm</a:t>
                </a:r>
                <a:r>
                  <a:rPr lang="it-IT" dirty="0"/>
                  <a:t>: </a:t>
                </a:r>
                <a:r>
                  <a:rPr lang="it-IT" i="0" dirty="0"/>
                  <a:t>matrice URM sparsa.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it-IT" b="1" dirty="0" err="1"/>
                  <a:t>movie_map</a:t>
                </a:r>
                <a:r>
                  <a:rPr lang="it-IT" dirty="0"/>
                  <a:t>: </a:t>
                </a:r>
                <a:r>
                  <a:rPr lang="it-IT" i="0" dirty="0"/>
                  <a:t>mappa degli ID film.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it-IT" b="1" i="1" smtClean="0">
                        <a:latin typeface="Cambria Math" panose="02040503050406030204" pitchFamily="18" charset="0"/>
                      </a:rPr>
                      <m:t>𝒍</m:t>
                    </m:r>
                  </m:oMath>
                </a14:m>
                <a:r>
                  <a:rPr lang="it-IT" dirty="0"/>
                  <a:t>: </a:t>
                </a:r>
                <a:r>
                  <a:rPr lang="it-IT" i="0" dirty="0"/>
                  <a:t>fattore di esplorazione.</a:t>
                </a:r>
              </a:p>
            </p:txBody>
          </p:sp>
        </mc:Choice>
        <mc:Fallback xmlns="">
          <p:sp>
            <p:nvSpPr>
              <p:cNvPr id="5" name="Segnaposto contenuto 2">
                <a:extLst>
                  <a:ext uri="{FF2B5EF4-FFF2-40B4-BE49-F238E27FC236}">
                    <a16:creationId xmlns:a16="http://schemas.microsoft.com/office/drawing/2014/main" id="{18110D41-37EC-C5B0-D4D6-9A74F723AB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422" y="1981200"/>
                <a:ext cx="10618501" cy="3667125"/>
              </a:xfrm>
              <a:prstGeom prst="rect">
                <a:avLst/>
              </a:prstGeom>
              <a:blipFill>
                <a:blip r:embed="rId2"/>
                <a:stretch>
                  <a:fillRect l="-517" t="-1329" r="-57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56579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6A01F-B318-684C-11D9-A15816806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282262-A384-0895-B1C6-45DA7EA2B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994" y="0"/>
            <a:ext cx="9601200" cy="1485900"/>
          </a:xfrm>
        </p:spPr>
        <p:txBody>
          <a:bodyPr/>
          <a:lstStyle/>
          <a:p>
            <a:r>
              <a:rPr lang="it-IT" dirty="0"/>
              <a:t>Raccomandazioni</a:t>
            </a:r>
            <a:br>
              <a:rPr lang="it-IT" dirty="0"/>
            </a:b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j-ea"/>
                <a:cs typeface="+mj-cs"/>
              </a:rPr>
              <a:t>Sezione Scopri di Più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45DEECB-73F4-DA13-5931-9B4F1C074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6422" y="1055009"/>
            <a:ext cx="10618501" cy="4308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sz="2400" b="1" dirty="0">
                <a:latin typeface="+mj-lt"/>
              </a:rPr>
              <a:t>Algoritmo UCB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80F89024-6501-A27B-16D1-4111B71E02C9}"/>
              </a:ext>
            </a:extLst>
          </p:cNvPr>
          <p:cNvSpPr txBox="1">
            <a:spLocks/>
          </p:cNvSpPr>
          <p:nvPr/>
        </p:nvSpPr>
        <p:spPr>
          <a:xfrm>
            <a:off x="926422" y="1811861"/>
            <a:ext cx="10618501" cy="504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b="1" dirty="0"/>
          </a:p>
        </p:txBody>
      </p:sp>
      <p:sp>
        <p:nvSpPr>
          <p:cNvPr id="9" name="Segnaposto contenuto 2">
            <a:extLst>
              <a:ext uri="{FF2B5EF4-FFF2-40B4-BE49-F238E27FC236}">
                <a16:creationId xmlns:a16="http://schemas.microsoft.com/office/drawing/2014/main" id="{7DE939A0-96EB-96F3-E3F2-C9C749FC54E0}"/>
              </a:ext>
            </a:extLst>
          </p:cNvPr>
          <p:cNvSpPr txBox="1">
            <a:spLocks/>
          </p:cNvSpPr>
          <p:nvPr/>
        </p:nvSpPr>
        <p:spPr>
          <a:xfrm>
            <a:off x="1021672" y="2009775"/>
            <a:ext cx="10618501" cy="50461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L'indice UCB è dato dalla formula:</a:t>
            </a:r>
          </a:p>
          <a:p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it-IT" dirty="0"/>
              <a:t>         : stima della media delle valutazioni,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it-IT" dirty="0"/>
              <a:t>T</a:t>
            </a:r>
            <a:r>
              <a:rPr lang="it-IT" baseline="-25000" dirty="0"/>
              <a:t>i</a:t>
            </a:r>
            <a:r>
              <a:rPr lang="it-IT" dirty="0"/>
              <a:t>(t)  è il numero di volte in cui il film  i  è stato selezionato fino al round  t ,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it-IT" dirty="0"/>
              <a:t>ℓ  è il parametro che controlla l'influenza del termine di esplorazione.</a:t>
            </a: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14" name="Immagine 13" descr="Immagine che contiene calligrafia, nero, Carattere, bianco e nero&#10;&#10;Il contenuto generato dall'IA potrebbe non essere corretto.">
            <a:extLst>
              <a:ext uri="{FF2B5EF4-FFF2-40B4-BE49-F238E27FC236}">
                <a16:creationId xmlns:a16="http://schemas.microsoft.com/office/drawing/2014/main" id="{82DAE182-5160-3B67-509A-1E2FF278EB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5250" y="2333586"/>
            <a:ext cx="3705225" cy="1095414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7CBA2CFD-48BE-8B0C-1676-24546451D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4962" y="3657599"/>
            <a:ext cx="595363" cy="47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1479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2611C-041B-5A19-1513-F8B21F689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57C44F-1ADA-E43E-E0F0-289A5D953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994" y="0"/>
            <a:ext cx="9601200" cy="1485900"/>
          </a:xfrm>
        </p:spPr>
        <p:txBody>
          <a:bodyPr/>
          <a:lstStyle/>
          <a:p>
            <a:r>
              <a:rPr lang="it-IT" dirty="0"/>
              <a:t>Raccomandazioni</a:t>
            </a:r>
            <a:br>
              <a:rPr lang="it-IT" dirty="0"/>
            </a:b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j-ea"/>
                <a:cs typeface="+mj-cs"/>
              </a:rPr>
              <a:t>Sezione Scopri di Più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12105E0-0E74-9448-FFE8-62FEC87B3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6422" y="1055009"/>
            <a:ext cx="10618501" cy="4308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sz="2400" b="1" dirty="0">
                <a:latin typeface="+mj-lt"/>
              </a:rPr>
              <a:t>Nostro adattamento UCB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A2963E4F-DFB7-D3EC-0F23-B1D1351F0A72}"/>
              </a:ext>
            </a:extLst>
          </p:cNvPr>
          <p:cNvSpPr txBox="1">
            <a:spLocks/>
          </p:cNvSpPr>
          <p:nvPr/>
        </p:nvSpPr>
        <p:spPr>
          <a:xfrm>
            <a:off x="926422" y="1811861"/>
            <a:ext cx="10618501" cy="504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b="1" dirty="0"/>
          </a:p>
        </p:txBody>
      </p:sp>
      <p:sp>
        <p:nvSpPr>
          <p:cNvPr id="9" name="Segnaposto contenuto 2">
            <a:extLst>
              <a:ext uri="{FF2B5EF4-FFF2-40B4-BE49-F238E27FC236}">
                <a16:creationId xmlns:a16="http://schemas.microsoft.com/office/drawing/2014/main" id="{83897CF2-88D6-18E6-2FA6-49532032437D}"/>
              </a:ext>
            </a:extLst>
          </p:cNvPr>
          <p:cNvSpPr txBox="1">
            <a:spLocks/>
          </p:cNvSpPr>
          <p:nvPr/>
        </p:nvSpPr>
        <p:spPr>
          <a:xfrm>
            <a:off x="1021672" y="2009776"/>
            <a:ext cx="10618501" cy="434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L'indice UCB è dato dalla formula:</a:t>
            </a:r>
          </a:p>
          <a:p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it-IT" dirty="0"/>
              <a:t>       : è la stima della valutazione dell'utente verso il film selezionato  i ,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it-IT" dirty="0"/>
              <a:t>T</a:t>
            </a:r>
            <a:r>
              <a:rPr lang="it-IT" baseline="-25000" dirty="0"/>
              <a:t>i</a:t>
            </a:r>
            <a:r>
              <a:rPr lang="it-IT" dirty="0"/>
              <a:t>(t)  è il numero di volte in cui il film  i  è stato selezionato fino al round  t ,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it-IT" dirty="0"/>
              <a:t>ℓ  è il parametro che controlla l'influenza del termine di esplorazione.</a:t>
            </a:r>
          </a:p>
          <a:p>
            <a:pPr marL="0" indent="0">
              <a:buNone/>
            </a:pPr>
            <a:endParaRPr lang="it-IT" dirty="0"/>
          </a:p>
          <a:p>
            <a:r>
              <a:rPr lang="it-IT" dirty="0"/>
              <a:t>Questa modifica rende il modello </a:t>
            </a:r>
            <a:r>
              <a:rPr lang="it-IT" b="1" dirty="0"/>
              <a:t>più personalizzato e accurato</a:t>
            </a:r>
            <a:r>
              <a:rPr lang="it-IT" dirty="0"/>
              <a:t>, perché la media dei voti globali può essere poco rappresentativa delle preferenze di un singolo utente.</a:t>
            </a: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6" name="Immagine 5" descr="Immagine che contiene nero, calligrafia, Carattere, bianco e nero&#10;&#10;Il contenuto generato dall'IA potrebbe non essere corretto.">
            <a:extLst>
              <a:ext uri="{FF2B5EF4-FFF2-40B4-BE49-F238E27FC236}">
                <a16:creationId xmlns:a16="http://schemas.microsoft.com/office/drawing/2014/main" id="{4AFBB3F4-A7B8-F945-D75B-9EFAFC78E2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0312" y="2357186"/>
            <a:ext cx="3756025" cy="1186114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A81B10D4-A867-E8EF-CB59-0DFAF455F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589" y="3743325"/>
            <a:ext cx="347711" cy="338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2517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EC998-6051-5D39-231D-BC19F0493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5F7F74-D18A-E005-110B-A6D5F43F4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994" y="0"/>
            <a:ext cx="9601200" cy="1485900"/>
          </a:xfrm>
        </p:spPr>
        <p:txBody>
          <a:bodyPr/>
          <a:lstStyle/>
          <a:p>
            <a:r>
              <a:rPr lang="it-IT" dirty="0"/>
              <a:t>Raccomandazioni</a:t>
            </a:r>
            <a:br>
              <a:rPr lang="it-IT" dirty="0"/>
            </a:b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j-ea"/>
                <a:cs typeface="+mj-cs"/>
              </a:rPr>
              <a:t>Sezione Scopri di Più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AF79AFE-93F6-607F-D206-D7DD4245E7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26422" y="1055009"/>
                <a:ext cx="10618501" cy="430892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it-IT" sz="2400" b="1" dirty="0">
                    <a:latin typeface="+mj-lt"/>
                  </a:rPr>
                  <a:t>Scelta del parametro </a:t>
                </a:r>
                <a14:m>
                  <m:oMath xmlns:m="http://schemas.openxmlformats.org/officeDocument/2006/math">
                    <m:r>
                      <a:rPr lang="it-IT" sz="2000" b="1" i="1" smtClean="0">
                        <a:latin typeface="Cambria Math" panose="02040503050406030204" pitchFamily="18" charset="0"/>
                      </a:rPr>
                      <m:t>𝒍</m:t>
                    </m:r>
                  </m:oMath>
                </a14:m>
                <a:endParaRPr lang="it-IT" sz="2400" dirty="0">
                  <a:latin typeface="+mj-lt"/>
                </a:endParaRPr>
              </a:p>
              <a:p>
                <a:pPr marL="0" indent="0">
                  <a:buNone/>
                </a:pPr>
                <a:endParaRPr lang="it-IT" sz="24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AF79AFE-93F6-607F-D206-D7DD4245E7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6422" y="1055009"/>
                <a:ext cx="10618501" cy="430892"/>
              </a:xfrm>
              <a:blipFill>
                <a:blip r:embed="rId2"/>
                <a:stretch>
                  <a:fillRect l="-918" t="-23944" b="-2535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973C5B5C-BE61-8A7D-72C3-3A50150B0766}"/>
              </a:ext>
            </a:extLst>
          </p:cNvPr>
          <p:cNvSpPr txBox="1">
            <a:spLocks/>
          </p:cNvSpPr>
          <p:nvPr/>
        </p:nvSpPr>
        <p:spPr>
          <a:xfrm>
            <a:off x="926422" y="1811861"/>
            <a:ext cx="10618501" cy="504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egnaposto contenuto 2">
                <a:extLst>
                  <a:ext uri="{FF2B5EF4-FFF2-40B4-BE49-F238E27FC236}">
                    <a16:creationId xmlns:a16="http://schemas.microsoft.com/office/drawing/2014/main" id="{650AD39A-8781-B327-337D-39658D90BC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93813" y="2137821"/>
                <a:ext cx="10618501" cy="504613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84048" indent="-384048" algn="l" defTabSz="914400" rtl="0" eaLnBrk="1" latinLnBrk="0" hangingPunct="1">
                  <a:lnSpc>
                    <a:spcPct val="94000"/>
                  </a:lnSpc>
                  <a:spcBef>
                    <a:spcPts val="10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20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9144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20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13716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8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8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22860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6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7432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6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32004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36576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4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41148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it-IT" dirty="0"/>
                  <a:t>Il parametro </a:t>
                </a:r>
                <a14:m>
                  <m:oMath xmlns:m="http://schemas.openxmlformats.org/officeDocument/2006/math">
                    <m:r>
                      <a:rPr lang="it-IT" b="1" i="1" smtClean="0">
                        <a:latin typeface="Cambria Math" panose="02040503050406030204" pitchFamily="18" charset="0"/>
                      </a:rPr>
                      <m:t>𝒍</m:t>
                    </m:r>
                  </m:oMath>
                </a14:m>
                <a:r>
                  <a:rPr lang="it-IT" dirty="0"/>
                  <a:t> è fondamentale per controllare l’equilibrio tra </a:t>
                </a:r>
                <a:r>
                  <a:rPr lang="it-IT" dirty="0" err="1"/>
                  <a:t>exploration</a:t>
                </a:r>
                <a:r>
                  <a:rPr lang="it-IT" dirty="0"/>
                  <a:t> e exploitation</a:t>
                </a:r>
              </a:p>
              <a:p>
                <a:r>
                  <a:rPr lang="it-IT" dirty="0"/>
                  <a:t>Se </a:t>
                </a:r>
                <a14:m>
                  <m:oMath xmlns:m="http://schemas.openxmlformats.org/officeDocument/2006/math">
                    <m:r>
                      <a:rPr lang="it-IT" b="1" i="1" smtClean="0">
                        <a:latin typeface="Cambria Math" panose="02040503050406030204" pitchFamily="18" charset="0"/>
                      </a:rPr>
                      <m:t>𝒍</m:t>
                    </m:r>
                  </m:oMath>
                </a14:m>
                <a:r>
                  <a:rPr lang="it-IT" dirty="0"/>
                  <a:t> è un valore molto grande andremo a favorire più </a:t>
                </a:r>
                <a:r>
                  <a:rPr lang="it-IT" b="1" dirty="0" err="1"/>
                  <a:t>l’exploration</a:t>
                </a:r>
                <a:endParaRPr lang="it-IT" dirty="0"/>
              </a:p>
              <a:p>
                <a:r>
                  <a:rPr lang="it-IT" dirty="0"/>
                  <a:t>Mentre se </a:t>
                </a:r>
                <a14:m>
                  <m:oMath xmlns:m="http://schemas.openxmlformats.org/officeDocument/2006/math">
                    <m:r>
                      <a:rPr lang="it-IT" b="1" i="1" smtClean="0">
                        <a:latin typeface="Cambria Math" panose="02040503050406030204" pitchFamily="18" charset="0"/>
                      </a:rPr>
                      <m:t>𝒍</m:t>
                    </m:r>
                  </m:oMath>
                </a14:m>
                <a:r>
                  <a:rPr lang="it-IT" dirty="0"/>
                  <a:t> è un valore piccolo andremo a favorire l’</a:t>
                </a:r>
                <a:r>
                  <a:rPr lang="it-IT" b="1" dirty="0"/>
                  <a:t>exploitation</a:t>
                </a:r>
                <a:endParaRPr lang="it-IT" dirty="0"/>
              </a:p>
              <a:p>
                <a:r>
                  <a:rPr lang="it-IT" dirty="0"/>
                  <a:t>Questo è dimostrato nel prossimo grafico, andremo a selezionare il 20% dei film con </a:t>
                </a:r>
                <a:r>
                  <a:rPr lang="it-IT" i="1" dirty="0" err="1"/>
                  <a:t>estimated_rating</a:t>
                </a:r>
                <a:r>
                  <a:rPr lang="it-IT" i="1" dirty="0"/>
                  <a:t> </a:t>
                </a:r>
                <a:r>
                  <a:rPr lang="it-IT" dirty="0"/>
                  <a:t>più alto (i top items) e vedremo al variare di </a:t>
                </a:r>
                <a14:m>
                  <m:oMath xmlns:m="http://schemas.openxmlformats.org/officeDocument/2006/math">
                    <m:r>
                      <a:rPr lang="it-IT" b="1" i="1" smtClean="0">
                        <a:latin typeface="Cambria Math" panose="02040503050406030204" pitchFamily="18" charset="0"/>
                      </a:rPr>
                      <m:t>𝒍</m:t>
                    </m:r>
                  </m:oMath>
                </a14:m>
                <a:r>
                  <a:rPr lang="it-IT" dirty="0"/>
                  <a:t> quante volte nei 10 film consigliati compariranno film contenuti nel 20% dei film preferiti</a:t>
                </a:r>
              </a:p>
            </p:txBody>
          </p:sp>
        </mc:Choice>
        <mc:Fallback xmlns="">
          <p:sp>
            <p:nvSpPr>
              <p:cNvPr id="5" name="Segnaposto contenuto 2">
                <a:extLst>
                  <a:ext uri="{FF2B5EF4-FFF2-40B4-BE49-F238E27FC236}">
                    <a16:creationId xmlns:a16="http://schemas.microsoft.com/office/drawing/2014/main" id="{650AD39A-8781-B327-337D-39658D90B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813" y="2137821"/>
                <a:ext cx="10618501" cy="5046139"/>
              </a:xfrm>
              <a:prstGeom prst="rect">
                <a:avLst/>
              </a:prstGeom>
              <a:blipFill>
                <a:blip r:embed="rId3"/>
                <a:stretch>
                  <a:fillRect l="-517" t="-108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44655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EF2CC-D29C-B44B-5D9C-00B38B6E3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39922A-238B-4D05-8595-348D721DD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994" y="0"/>
            <a:ext cx="9601200" cy="1485900"/>
          </a:xfrm>
        </p:spPr>
        <p:txBody>
          <a:bodyPr/>
          <a:lstStyle/>
          <a:p>
            <a:r>
              <a:rPr lang="it-IT" dirty="0"/>
              <a:t>Raccomandazioni</a:t>
            </a:r>
            <a:br>
              <a:rPr lang="it-IT" dirty="0"/>
            </a:b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j-ea"/>
                <a:cs typeface="+mj-cs"/>
              </a:rPr>
              <a:t>Sezione Scopri di Più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14047EFA-BB7C-50FC-032D-9B411D18AF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26422" y="1055009"/>
                <a:ext cx="10618501" cy="430892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it-IT" sz="2400" b="1" dirty="0">
                    <a:latin typeface="+mj-lt"/>
                  </a:rPr>
                  <a:t>Scelta del parametro </a:t>
                </a:r>
                <a14:m>
                  <m:oMath xmlns:m="http://schemas.openxmlformats.org/officeDocument/2006/math">
                    <m:r>
                      <a:rPr lang="it-IT" sz="2000" b="1" i="1" smtClean="0">
                        <a:latin typeface="Cambria Math" panose="02040503050406030204" pitchFamily="18" charset="0"/>
                      </a:rPr>
                      <m:t>𝒍</m:t>
                    </m:r>
                  </m:oMath>
                </a14:m>
                <a:endParaRPr lang="it-IT" sz="2400" dirty="0">
                  <a:latin typeface="+mj-lt"/>
                </a:endParaRPr>
              </a:p>
              <a:p>
                <a:pPr marL="0" indent="0">
                  <a:buNone/>
                </a:pPr>
                <a:endParaRPr lang="it-IT" sz="24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14047EFA-BB7C-50FC-032D-9B411D18AF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6422" y="1055009"/>
                <a:ext cx="10618501" cy="430892"/>
              </a:xfrm>
              <a:blipFill>
                <a:blip r:embed="rId2"/>
                <a:stretch>
                  <a:fillRect l="-918" t="-23944" b="-2535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85E33E3C-10D9-6DDF-A27C-2D82794E598D}"/>
              </a:ext>
            </a:extLst>
          </p:cNvPr>
          <p:cNvSpPr txBox="1">
            <a:spLocks/>
          </p:cNvSpPr>
          <p:nvPr/>
        </p:nvSpPr>
        <p:spPr>
          <a:xfrm>
            <a:off x="926422" y="1811861"/>
            <a:ext cx="10618501" cy="504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F30224B-6A0A-A539-641F-80716380B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6919" y="1673352"/>
            <a:ext cx="7458161" cy="4700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23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709FC-B75C-72F7-3C49-FA3529BB5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2E92D2D-81BC-84FF-B384-706702F59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994" y="0"/>
            <a:ext cx="9601200" cy="1485900"/>
          </a:xfrm>
        </p:spPr>
        <p:txBody>
          <a:bodyPr/>
          <a:lstStyle/>
          <a:p>
            <a:r>
              <a:rPr lang="it-IT" dirty="0"/>
              <a:t>Raccomandazioni</a:t>
            </a:r>
            <a:br>
              <a:rPr lang="it-IT" dirty="0"/>
            </a:b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j-ea"/>
                <a:cs typeface="+mj-cs"/>
              </a:rPr>
              <a:t>Sezione Scopri di Più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960DF6A5-D5C6-B026-7B0D-6005F565DC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26422" y="1055009"/>
                <a:ext cx="10618501" cy="430892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it-IT" sz="2400" b="1" dirty="0">
                    <a:latin typeface="+mj-lt"/>
                  </a:rPr>
                  <a:t>Scelta del parametro </a:t>
                </a:r>
                <a14:m>
                  <m:oMath xmlns:m="http://schemas.openxmlformats.org/officeDocument/2006/math">
                    <m:r>
                      <a:rPr lang="it-IT" sz="2000" b="1" i="1" smtClean="0">
                        <a:latin typeface="Cambria Math" panose="02040503050406030204" pitchFamily="18" charset="0"/>
                      </a:rPr>
                      <m:t>𝒍</m:t>
                    </m:r>
                  </m:oMath>
                </a14:m>
                <a:endParaRPr lang="it-IT" sz="2400" dirty="0">
                  <a:latin typeface="+mj-lt"/>
                </a:endParaRPr>
              </a:p>
              <a:p>
                <a:pPr marL="0" indent="0">
                  <a:buNone/>
                </a:pPr>
                <a:endParaRPr lang="it-IT" sz="24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960DF6A5-D5C6-B026-7B0D-6005F565DC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6422" y="1055009"/>
                <a:ext cx="10618501" cy="430892"/>
              </a:xfrm>
              <a:blipFill>
                <a:blip r:embed="rId2"/>
                <a:stretch>
                  <a:fillRect l="-918" t="-23944" b="-2535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B1A77CC9-0695-16F9-CDC3-4C6AAD1BCF10}"/>
              </a:ext>
            </a:extLst>
          </p:cNvPr>
          <p:cNvSpPr txBox="1">
            <a:spLocks/>
          </p:cNvSpPr>
          <p:nvPr/>
        </p:nvSpPr>
        <p:spPr>
          <a:xfrm>
            <a:off x="926422" y="1811861"/>
            <a:ext cx="10618501" cy="504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AAB4530-24A0-E337-FC60-2D378387C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8195" y="3712464"/>
            <a:ext cx="4511999" cy="2843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Segnaposto contenuto 2">
                <a:extLst>
                  <a:ext uri="{FF2B5EF4-FFF2-40B4-BE49-F238E27FC236}">
                    <a16:creationId xmlns:a16="http://schemas.microsoft.com/office/drawing/2014/main" id="{27464B28-2310-5981-C688-34F278C6D34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42246" y="1650885"/>
                <a:ext cx="6241573" cy="269747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84048" indent="-384048" algn="l" defTabSz="914400" rtl="0" eaLnBrk="1" latinLnBrk="0" hangingPunct="1">
                  <a:lnSpc>
                    <a:spcPct val="94000"/>
                  </a:lnSpc>
                  <a:spcBef>
                    <a:spcPts val="10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20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9144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20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13716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8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8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22860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6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7432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6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32004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36576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4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41148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Franklin Gothic Book" panose="020B0503020102020204" pitchFamily="34" charset="0"/>
                  <a:buNone/>
                </a:pPr>
                <a:r>
                  <a:rPr lang="it-IT" dirty="0">
                    <a:latin typeface="+mj-lt"/>
                  </a:rPr>
                  <a:t>Questo grafico descrive come all’aumentare del numero di round (scelte), il numero di volte in cui il sistema suggerirà film che sono nell’elenco dei </a:t>
                </a:r>
                <a:r>
                  <a:rPr lang="it-IT" b="1" dirty="0">
                    <a:latin typeface="+mj-lt"/>
                  </a:rPr>
                  <a:t>top items </a:t>
                </a:r>
                <a:r>
                  <a:rPr lang="it-IT" dirty="0">
                    <a:latin typeface="+mj-lt"/>
                  </a:rPr>
                  <a:t>è crescente.</a:t>
                </a:r>
              </a:p>
              <a:p>
                <a:pPr marL="0" indent="0">
                  <a:buFont typeface="Franklin Gothic Book" panose="020B0503020102020204" pitchFamily="34" charset="0"/>
                  <a:buNone/>
                </a:pPr>
                <a:r>
                  <a:rPr lang="it-IT" b="1" dirty="0">
                    <a:latin typeface="+mj-lt"/>
                  </a:rPr>
                  <a:t>Di conseguenza</a:t>
                </a:r>
                <a:r>
                  <a:rPr lang="it-IT" dirty="0">
                    <a:latin typeface="+mj-lt"/>
                  </a:rPr>
                  <a:t> significa che aumentando il parametro </a:t>
                </a:r>
                <a14:m>
                  <m:oMath xmlns:m="http://schemas.openxmlformats.org/officeDocument/2006/math">
                    <m:r>
                      <a:rPr lang="it-IT" b="1" i="1" smtClean="0">
                        <a:latin typeface="Cambria Math" panose="02040503050406030204" pitchFamily="18" charset="0"/>
                      </a:rPr>
                      <m:t>𝒍</m:t>
                    </m:r>
                  </m:oMath>
                </a14:m>
                <a:r>
                  <a:rPr lang="it-IT" dirty="0">
                    <a:latin typeface="+mj-lt"/>
                  </a:rPr>
                  <a:t> stiamo esplorando film più distanti dal gusto dell’utente</a:t>
                </a:r>
                <a:endParaRPr lang="it-IT" b="1" dirty="0">
                  <a:latin typeface="+mj-lt"/>
                </a:endParaRPr>
              </a:p>
              <a:p>
                <a:pPr marL="0" indent="0">
                  <a:buFont typeface="Franklin Gothic Book" panose="020B0503020102020204" pitchFamily="34" charset="0"/>
                  <a:buNone/>
                </a:pPr>
                <a:endParaRPr lang="it-IT" sz="24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5" name="Segnaposto contenuto 2">
                <a:extLst>
                  <a:ext uri="{FF2B5EF4-FFF2-40B4-BE49-F238E27FC236}">
                    <a16:creationId xmlns:a16="http://schemas.microsoft.com/office/drawing/2014/main" id="{27464B28-2310-5981-C688-34F278C6D3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246" y="1650885"/>
                <a:ext cx="6241573" cy="2697479"/>
              </a:xfrm>
              <a:prstGeom prst="rect">
                <a:avLst/>
              </a:prstGeom>
              <a:blipFill>
                <a:blip r:embed="rId4"/>
                <a:stretch>
                  <a:fillRect l="-1074" t="-2036" r="-87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1196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12CE0-3BA7-EAA6-DF76-44B1337CF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FF4BB5-D0DB-D192-6B4B-5772345F7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994" y="0"/>
            <a:ext cx="9601200" cy="1485900"/>
          </a:xfrm>
        </p:spPr>
        <p:txBody>
          <a:bodyPr/>
          <a:lstStyle/>
          <a:p>
            <a:r>
              <a:rPr lang="it-IT" dirty="0"/>
              <a:t>Raccomandazioni</a:t>
            </a:r>
            <a:br>
              <a:rPr lang="it-IT" dirty="0"/>
            </a:b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j-ea"/>
                <a:cs typeface="+mj-cs"/>
              </a:rPr>
              <a:t>Sezione Scopri di Più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585EED49-805C-A5E2-F035-A7FE6C3684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26422" y="1055009"/>
                <a:ext cx="10618501" cy="430892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it-IT" sz="2400" b="1" dirty="0">
                    <a:latin typeface="+mj-lt"/>
                  </a:rPr>
                  <a:t>Selezione del parametro </a:t>
                </a:r>
                <a14:m>
                  <m:oMath xmlns:m="http://schemas.openxmlformats.org/officeDocument/2006/math">
                    <m:r>
                      <a:rPr lang="it-IT" sz="2000" b="1" i="1" smtClean="0">
                        <a:latin typeface="Cambria Math" panose="02040503050406030204" pitchFamily="18" charset="0"/>
                      </a:rPr>
                      <m:t>𝒍</m:t>
                    </m:r>
                  </m:oMath>
                </a14:m>
                <a:endParaRPr lang="it-IT" sz="24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585EED49-805C-A5E2-F035-A7FE6C3684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6422" y="1055009"/>
                <a:ext cx="10618501" cy="430892"/>
              </a:xfrm>
              <a:blipFill>
                <a:blip r:embed="rId2"/>
                <a:stretch>
                  <a:fillRect l="-918" t="-23944" b="-2535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D178398D-661A-B4B9-AE4B-271D65EA5E30}"/>
              </a:ext>
            </a:extLst>
          </p:cNvPr>
          <p:cNvSpPr txBox="1">
            <a:spLocks/>
          </p:cNvSpPr>
          <p:nvPr/>
        </p:nvSpPr>
        <p:spPr>
          <a:xfrm>
            <a:off x="926422" y="1811861"/>
            <a:ext cx="10618501" cy="504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Segnaposto contenuto 2">
                <a:extLst>
                  <a:ext uri="{FF2B5EF4-FFF2-40B4-BE49-F238E27FC236}">
                    <a16:creationId xmlns:a16="http://schemas.microsoft.com/office/drawing/2014/main" id="{CF061515-355F-BB5B-2474-0C50695829B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26422" y="1811860"/>
                <a:ext cx="10618501" cy="504613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84048" indent="-384048" algn="l" defTabSz="914400" rtl="0" eaLnBrk="1" latinLnBrk="0" hangingPunct="1">
                  <a:lnSpc>
                    <a:spcPct val="94000"/>
                  </a:lnSpc>
                  <a:spcBef>
                    <a:spcPts val="10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20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9144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20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13716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8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8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22860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6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7432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6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32004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36576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4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41148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it-IT" dirty="0"/>
                  <a:t>Per </a:t>
                </a:r>
                <a14:m>
                  <m:oMath xmlns:m="http://schemas.openxmlformats.org/officeDocument/2006/math">
                    <m:r>
                      <a:rPr lang="it-IT" b="1" i="1" smtClean="0">
                        <a:latin typeface="Cambria Math" panose="02040503050406030204" pitchFamily="18" charset="0"/>
                      </a:rPr>
                      <m:t>𝒍</m:t>
                    </m:r>
                    <m:r>
                      <a:rPr lang="it-IT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b="1" dirty="0"/>
                  <a:t>=1</a:t>
                </a:r>
                <a:r>
                  <a:rPr lang="it-IT" dirty="0"/>
                  <a:t> , l'algoritmo è più orientato all'exploitation, privilegiando frequentemente i film con </a:t>
                </a:r>
                <a:r>
                  <a:rPr lang="it-IT" i="1" dirty="0" err="1"/>
                  <a:t>expected</a:t>
                </a:r>
                <a:r>
                  <a:rPr lang="it-IT" i="1" dirty="0"/>
                  <a:t> utility </a:t>
                </a:r>
                <a:r>
                  <a:rPr lang="it-IT" dirty="0"/>
                  <a:t>più alta. Ovvero selezionerà circa 4 film su 10 che si trovano nel 20% dei film più vicini ai gusti dell’utente. La media delle selezioni di film consigliati risulta la più alta (</a:t>
                </a:r>
                <a:r>
                  <a:rPr lang="it-IT" b="1" dirty="0"/>
                  <a:t>3.78</a:t>
                </a:r>
                <a:r>
                  <a:rPr lang="it-IT" dirty="0"/>
                  <a:t>).</a:t>
                </a:r>
              </a:p>
              <a:p>
                <a:endParaRPr lang="it-IT" dirty="0"/>
              </a:p>
              <a:p>
                <a:r>
                  <a:rPr lang="it-IT" dirty="0"/>
                  <a:t>Per </a:t>
                </a:r>
                <a14:m>
                  <m:oMath xmlns:m="http://schemas.openxmlformats.org/officeDocument/2006/math">
                    <m:r>
                      <a:rPr lang="it-IT" b="1" i="1" smtClean="0">
                        <a:latin typeface="Cambria Math" panose="02040503050406030204" pitchFamily="18" charset="0"/>
                      </a:rPr>
                      <m:t>𝒍</m:t>
                    </m:r>
                    <m:r>
                      <a:rPr lang="it-IT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b="1" dirty="0"/>
                  <a:t>=2</a:t>
                </a:r>
                <a:r>
                  <a:rPr lang="it-IT" dirty="0"/>
                  <a:t>  e </a:t>
                </a:r>
                <a14:m>
                  <m:oMath xmlns:m="http://schemas.openxmlformats.org/officeDocument/2006/math">
                    <m:r>
                      <a:rPr lang="it-IT" b="1" i="1">
                        <a:latin typeface="Cambria Math" panose="02040503050406030204" pitchFamily="18" charset="0"/>
                      </a:rPr>
                      <m:t>𝒍</m:t>
                    </m:r>
                    <m:r>
                      <a:rPr lang="it-IT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b="1" dirty="0"/>
                  <a:t>=4</a:t>
                </a:r>
                <a:r>
                  <a:rPr lang="it-IT" dirty="0"/>
                  <a:t> , l'algoritmo bilancia sempre più l'esplorazione con lo sfruttamento, ma con una leggera preferenza per esplorare nuove opzioni. Questo porta a una diminuzione della selezione di film consigliati, dato che l'algoritmo esplora anche film con </a:t>
                </a:r>
                <a:r>
                  <a:rPr lang="it-IT" i="1" dirty="0" err="1"/>
                  <a:t>expected</a:t>
                </a:r>
                <a:r>
                  <a:rPr lang="it-IT" i="1" dirty="0"/>
                  <a:t> utility </a:t>
                </a:r>
                <a:r>
                  <a:rPr lang="it-IT" dirty="0"/>
                  <a:t>inferiore, </a:t>
                </a:r>
                <a:r>
                  <a:rPr lang="it-IT" b="1" dirty="0"/>
                  <a:t>riducendo la frequenza della selezione dei top items</a:t>
                </a:r>
                <a:r>
                  <a:rPr lang="it-IT" dirty="0"/>
                  <a:t>.</a:t>
                </a:r>
              </a:p>
              <a:p>
                <a:endParaRPr lang="it-IT" dirty="0"/>
              </a:p>
              <a:p>
                <a:r>
                  <a:rPr lang="it-IT" dirty="0"/>
                  <a:t>Per </a:t>
                </a:r>
                <a14:m>
                  <m:oMath xmlns:m="http://schemas.openxmlformats.org/officeDocument/2006/math">
                    <m:r>
                      <a:rPr lang="it-IT" b="1" i="1" smtClean="0">
                        <a:latin typeface="Cambria Math" panose="02040503050406030204" pitchFamily="18" charset="0"/>
                      </a:rPr>
                      <m:t>𝒍</m:t>
                    </m:r>
                    <m:r>
                      <a:rPr lang="it-IT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b="1" dirty="0"/>
                  <a:t>=8</a:t>
                </a:r>
                <a:r>
                  <a:rPr lang="it-IT" dirty="0"/>
                  <a:t> , il parametro molto alto spinge fortemente l'algoritmo verso una maggiore esplorazione. Questo porta a selezionare film meno conosciuti e con </a:t>
                </a:r>
                <a:r>
                  <a:rPr lang="it-IT" i="1" dirty="0" err="1"/>
                  <a:t>expected</a:t>
                </a:r>
                <a:r>
                  <a:rPr lang="it-IT" i="1" dirty="0"/>
                  <a:t> utility </a:t>
                </a:r>
                <a:r>
                  <a:rPr lang="it-IT" dirty="0"/>
                  <a:t>più incerta, riducendo ulteriormente la media delle selezioni di film consigliati (</a:t>
                </a:r>
                <a:r>
                  <a:rPr lang="it-IT" b="1" dirty="0"/>
                  <a:t>2.53</a:t>
                </a:r>
                <a:r>
                  <a:rPr lang="it-IT" dirty="0"/>
                  <a:t>).</a:t>
                </a:r>
              </a:p>
            </p:txBody>
          </p:sp>
        </mc:Choice>
        <mc:Fallback xmlns="">
          <p:sp>
            <p:nvSpPr>
              <p:cNvPr id="9" name="Segnaposto contenuto 2">
                <a:extLst>
                  <a:ext uri="{FF2B5EF4-FFF2-40B4-BE49-F238E27FC236}">
                    <a16:creationId xmlns:a16="http://schemas.microsoft.com/office/drawing/2014/main" id="{CF061515-355F-BB5B-2474-0C50695829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422" y="1811860"/>
                <a:ext cx="10618501" cy="5046139"/>
              </a:xfrm>
              <a:prstGeom prst="rect">
                <a:avLst/>
              </a:prstGeom>
              <a:blipFill>
                <a:blip r:embed="rId3"/>
                <a:stretch>
                  <a:fillRect l="-517" t="-96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10310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F1EAB-2C30-5A2E-341F-D91690C84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F4074C-E3C3-A443-D505-FE53B317C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994" y="0"/>
            <a:ext cx="9601200" cy="1485900"/>
          </a:xfrm>
        </p:spPr>
        <p:txBody>
          <a:bodyPr/>
          <a:lstStyle/>
          <a:p>
            <a:r>
              <a:rPr lang="it-IT" dirty="0"/>
              <a:t>Raccomandazioni</a:t>
            </a:r>
            <a:br>
              <a:rPr lang="it-IT" dirty="0"/>
            </a:b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j-ea"/>
                <a:cs typeface="+mj-cs"/>
              </a:rPr>
              <a:t>Sezione Scopri di Più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0E8D03-F403-3AA3-F2B4-75E732F33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6422" y="1055009"/>
            <a:ext cx="10618501" cy="4308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sz="2400" b="1" dirty="0">
                <a:latin typeface="+mj-lt"/>
              </a:rPr>
              <a:t>Popolarità dei film consigliati</a:t>
            </a:r>
            <a:endParaRPr lang="it-IT" sz="2400" dirty="0">
              <a:latin typeface="+mj-lt"/>
            </a:endParaRPr>
          </a:p>
          <a:p>
            <a:pPr marL="0" indent="0">
              <a:buNone/>
            </a:pPr>
            <a:endParaRPr lang="it-IT" sz="2400" b="1" dirty="0">
              <a:latin typeface="+mj-lt"/>
            </a:endParaRP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0464280A-15E1-1EBB-5D17-EBD2AFE001B6}"/>
              </a:ext>
            </a:extLst>
          </p:cNvPr>
          <p:cNvSpPr txBox="1">
            <a:spLocks/>
          </p:cNvSpPr>
          <p:nvPr/>
        </p:nvSpPr>
        <p:spPr>
          <a:xfrm>
            <a:off x="926422" y="1811861"/>
            <a:ext cx="10618501" cy="504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5D5E95EF-7D26-0411-F872-4B66D50FA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422" y="2085529"/>
            <a:ext cx="10747308" cy="3610756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E911A46-E476-8DA3-A32B-CAE71DCF0FCF}"/>
              </a:ext>
            </a:extLst>
          </p:cNvPr>
          <p:cNvSpPr txBox="1"/>
          <p:nvPr/>
        </p:nvSpPr>
        <p:spPr>
          <a:xfrm>
            <a:off x="10480491" y="1758981"/>
            <a:ext cx="1128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Scopri di Più</a:t>
            </a:r>
          </a:p>
        </p:txBody>
      </p:sp>
    </p:spTree>
    <p:extLst>
      <p:ext uri="{BB962C8B-B14F-4D97-AF65-F5344CB8AC3E}">
        <p14:creationId xmlns:p14="http://schemas.microsoft.com/office/powerpoint/2010/main" val="35111692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F270B-8B5D-6D7B-6483-049227F92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1A790A5-35E1-2E8D-87E0-EE568B852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994" y="0"/>
            <a:ext cx="9601200" cy="1485900"/>
          </a:xfrm>
        </p:spPr>
        <p:txBody>
          <a:bodyPr/>
          <a:lstStyle/>
          <a:p>
            <a:r>
              <a:rPr lang="it-IT" dirty="0"/>
              <a:t>Raccomandazioni</a:t>
            </a:r>
            <a:br>
              <a:rPr lang="it-IT" dirty="0"/>
            </a:b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j-ea"/>
                <a:cs typeface="+mj-cs"/>
              </a:rPr>
              <a:t>Sezione Scopri di Più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9A71F05-400E-39C6-7EAC-5FFAC02F8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6422" y="1055009"/>
            <a:ext cx="10618501" cy="4308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sz="2400" b="1" dirty="0">
                <a:latin typeface="+mj-lt"/>
              </a:rPr>
              <a:t>Popolarità dei film consigliati</a:t>
            </a:r>
            <a:endParaRPr lang="it-IT" sz="2400" dirty="0">
              <a:latin typeface="+mj-lt"/>
            </a:endParaRPr>
          </a:p>
          <a:p>
            <a:pPr marL="0" indent="0">
              <a:buNone/>
            </a:pPr>
            <a:endParaRPr lang="it-IT" sz="2400" b="1" dirty="0">
              <a:latin typeface="+mj-lt"/>
            </a:endParaRP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D07A5FEA-39CD-1B66-4ECE-EB8D7CDF3D35}"/>
              </a:ext>
            </a:extLst>
          </p:cNvPr>
          <p:cNvSpPr txBox="1">
            <a:spLocks/>
          </p:cNvSpPr>
          <p:nvPr/>
        </p:nvSpPr>
        <p:spPr>
          <a:xfrm>
            <a:off x="926422" y="1811861"/>
            <a:ext cx="10618501" cy="504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56F1F8EC-B6A1-2DAE-10E1-4D4BCC630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086" y="1485900"/>
            <a:ext cx="7487323" cy="2515504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90EF1A4-485E-FBB2-1D55-FEC90EF2D540}"/>
              </a:ext>
            </a:extLst>
          </p:cNvPr>
          <p:cNvSpPr txBox="1"/>
          <p:nvPr/>
        </p:nvSpPr>
        <p:spPr>
          <a:xfrm>
            <a:off x="7263574" y="1161715"/>
            <a:ext cx="1128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Scopri di Più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1892ECAE-69D5-B9F9-5373-5127CE8DB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212" y="4114348"/>
            <a:ext cx="7494723" cy="2515504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3FCAA85-980C-6AB3-602F-F495DC2240EC}"/>
              </a:ext>
            </a:extLst>
          </p:cNvPr>
          <p:cNvSpPr txBox="1"/>
          <p:nvPr/>
        </p:nvSpPr>
        <p:spPr>
          <a:xfrm>
            <a:off x="10227607" y="3806571"/>
            <a:ext cx="6479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Per Te</a:t>
            </a:r>
          </a:p>
        </p:txBody>
      </p:sp>
    </p:spTree>
    <p:extLst>
      <p:ext uri="{BB962C8B-B14F-4D97-AF65-F5344CB8AC3E}">
        <p14:creationId xmlns:p14="http://schemas.microsoft.com/office/powerpoint/2010/main" val="6773264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BE58E-BC43-B73E-9E76-C13925F8D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B17057-E873-DD89-322E-480F57EA3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994" y="0"/>
            <a:ext cx="9601200" cy="1485900"/>
          </a:xfrm>
        </p:spPr>
        <p:txBody>
          <a:bodyPr/>
          <a:lstStyle/>
          <a:p>
            <a:r>
              <a:rPr lang="it-IT" dirty="0"/>
              <a:t>Raccomandazioni</a:t>
            </a:r>
            <a:br>
              <a:rPr lang="it-IT" dirty="0"/>
            </a:b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j-ea"/>
                <a:cs typeface="+mj-cs"/>
              </a:rPr>
              <a:t>Sezione Scopri di Più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48D8B75-32FA-EC59-35D3-0A953A150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6422" y="1055009"/>
            <a:ext cx="10618501" cy="4308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sz="2400" b="1" dirty="0">
                <a:latin typeface="+mj-lt"/>
              </a:rPr>
              <a:t>Popolarità</a:t>
            </a:r>
            <a:endParaRPr lang="it-IT" sz="2400" dirty="0">
              <a:latin typeface="+mj-lt"/>
            </a:endParaRPr>
          </a:p>
          <a:p>
            <a:pPr marL="0" indent="0">
              <a:buNone/>
            </a:pPr>
            <a:endParaRPr lang="it-IT" sz="2400" b="1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Segnaposto contenuto 2">
                <a:extLst>
                  <a:ext uri="{FF2B5EF4-FFF2-40B4-BE49-F238E27FC236}">
                    <a16:creationId xmlns:a16="http://schemas.microsoft.com/office/drawing/2014/main" id="{878BD096-32F0-BF2F-4509-1896E874C69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26422" y="1811861"/>
                <a:ext cx="10618501" cy="504613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84048" indent="-384048" algn="l" defTabSz="914400" rtl="0" eaLnBrk="1" latinLnBrk="0" hangingPunct="1">
                  <a:lnSpc>
                    <a:spcPct val="94000"/>
                  </a:lnSpc>
                  <a:spcBef>
                    <a:spcPts val="10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20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9144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20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13716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8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8288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8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22860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6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27432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6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32004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36576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–"/>
                  <a:defRPr sz="1400" i="1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4114800" indent="-384048" algn="l" defTabSz="914400" rtl="0" eaLnBrk="1" latinLnBrk="0" hangingPunct="1">
                  <a:lnSpc>
                    <a:spcPct val="94000"/>
                  </a:lnSpc>
                  <a:spcBef>
                    <a:spcPts val="500"/>
                  </a:spcBef>
                  <a:spcAft>
                    <a:spcPts val="200"/>
                  </a:spcAft>
                  <a:buFont typeface="Franklin Gothic Book" panose="020B0503020102020204" pitchFamily="34" charset="0"/>
                  <a:buChar char="■"/>
                  <a:defRPr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it-IT" dirty="0"/>
                  <a:t>Dalle tabelle precedenti abbiamo evidenziato come questo tipo di tecnica andrà a favorire l’</a:t>
                </a:r>
                <a:r>
                  <a:rPr lang="it-IT" b="1" dirty="0"/>
                  <a:t>esplorazione di items che sono meno popolari </a:t>
                </a:r>
                <a:r>
                  <a:rPr lang="it-IT" dirty="0"/>
                  <a:t>nel nostro sistema</a:t>
                </a:r>
              </a:p>
              <a:p>
                <a:r>
                  <a:rPr lang="it-IT" dirty="0"/>
                  <a:t>Il calcolo della popolarità è stato effettuato nel seguente modo:         </a:t>
                </a:r>
              </a:p>
              <a:p>
                <a:pPr marL="0" indent="0">
                  <a:buNone/>
                </a:pPr>
                <a:r>
                  <a:rPr lang="it-IT" dirty="0"/>
                  <a:t>           	               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b="0" i="0" dirty="0" smtClean="0">
                        <a:latin typeface="Cambria Math" panose="02040503050406030204" pitchFamily="18" charset="0"/>
                      </a:rPr>
                      <m:t>popolarit</m:t>
                    </m:r>
                    <m:r>
                      <a:rPr lang="it-IT" b="0" i="0" dirty="0" smtClean="0">
                        <a:latin typeface="Cambria Math" panose="02040503050406030204" pitchFamily="18" charset="0"/>
                      </a:rPr>
                      <m:t>à=</m:t>
                    </m:r>
                    <m:d>
                      <m:dPr>
                        <m:ctrlPr>
                          <a:rPr lang="it-IT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it-IT" i="1" dirty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it-IT" b="0" i="1" dirty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𝑛𝑢𝑚𝑒𝑟𝑜</m:t>
                            </m:r>
                            <m:r>
                              <a:rPr lang="it-IT" b="0" i="1" dirty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it-IT" b="0" i="1" dirty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𝑑𝑖</m:t>
                            </m:r>
                            <m:r>
                              <a:rPr lang="it-IT" b="0" i="1" dirty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it-IT" b="0" i="1" dirty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𝑣𝑜𝑡𝑖</m:t>
                            </m:r>
                            <m:r>
                              <a:rPr lang="it-IT" b="0" i="1" dirty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it-IT" b="0" i="1" dirty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𝑎𝑙</m:t>
                            </m:r>
                            <m:r>
                              <a:rPr lang="it-IT" b="0" i="1" dirty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it-IT" b="0" i="1" dirty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𝑓𝑖𝑙𝑚</m:t>
                            </m:r>
                          </m:num>
                          <m:den>
                            <m: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  <m:t>𝑛𝑢𝑚𝑒𝑟𝑜</m:t>
                            </m:r>
                            <m: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  <m:t>𝑡𝑜𝑡𝑎𝑙𝑒</m:t>
                            </m:r>
                            <m: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  <m:t>𝑑𝑖</m:t>
                            </m:r>
                            <m: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it-IT" b="0" i="1" dirty="0" smtClean="0">
                                <a:latin typeface="Cambria Math" panose="02040503050406030204" pitchFamily="18" charset="0"/>
                              </a:rPr>
                              <m:t>𝑣𝑜𝑡𝑖</m:t>
                            </m:r>
                          </m:den>
                        </m:f>
                      </m:e>
                    </m:d>
                    <m:r>
                      <a:rPr lang="it-IT" i="0" dirty="0" smtClean="0">
                        <a:latin typeface="Cambria Math" panose="02040503050406030204" pitchFamily="18" charset="0"/>
                      </a:rPr>
                      <m:t>×100</m:t>
                    </m:r>
                  </m:oMath>
                </a14:m>
                <a:endParaRPr lang="it-IT" dirty="0"/>
              </a:p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endParaRPr lang="it-IT" dirty="0"/>
              </a:p>
              <a:p>
                <a:r>
                  <a:rPr lang="it-IT" dirty="0"/>
                  <a:t>I film vengono poi classificati in tre categorie di popolarità in base alla loro percentuale di recensioni, usando i percentili 33 e 67 per determinare le soglie</a:t>
                </a:r>
              </a:p>
            </p:txBody>
          </p:sp>
        </mc:Choice>
        <mc:Fallback xmlns="">
          <p:sp>
            <p:nvSpPr>
              <p:cNvPr id="4" name="Segnaposto contenuto 2">
                <a:extLst>
                  <a:ext uri="{FF2B5EF4-FFF2-40B4-BE49-F238E27FC236}">
                    <a16:creationId xmlns:a16="http://schemas.microsoft.com/office/drawing/2014/main" id="{878BD096-32F0-BF2F-4509-1896E874C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422" y="1811861"/>
                <a:ext cx="10618501" cy="5046139"/>
              </a:xfrm>
              <a:prstGeom prst="rect">
                <a:avLst/>
              </a:prstGeom>
              <a:blipFill>
                <a:blip r:embed="rId2"/>
                <a:stretch>
                  <a:fillRect l="-517" t="-96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9030F551-C502-3CCB-F130-EFD4BA69C948}"/>
              </a:ext>
            </a:extLst>
          </p:cNvPr>
          <p:cNvSpPr txBox="1">
            <a:spLocks/>
          </p:cNvSpPr>
          <p:nvPr/>
        </p:nvSpPr>
        <p:spPr>
          <a:xfrm>
            <a:off x="1093812" y="2092179"/>
            <a:ext cx="10618501" cy="504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821700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3D724-8433-9E26-F91B-B63A1BF19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F4510B-2109-E2BC-791A-22A3F1AF1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994" y="0"/>
            <a:ext cx="9601200" cy="1485900"/>
          </a:xfrm>
        </p:spPr>
        <p:txBody>
          <a:bodyPr/>
          <a:lstStyle/>
          <a:p>
            <a:r>
              <a:rPr lang="it-IT" dirty="0"/>
              <a:t>Raccomandazioni</a:t>
            </a:r>
            <a:br>
              <a:rPr lang="it-IT" dirty="0"/>
            </a:b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j-ea"/>
                <a:cs typeface="+mj-cs"/>
              </a:rPr>
              <a:t>Sezione Scopri di Più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D19CAA7-9203-D343-952E-33022A87D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6422" y="1055009"/>
            <a:ext cx="10618501" cy="4308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sz="2400" b="1" dirty="0">
                <a:latin typeface="+mj-lt"/>
              </a:rPr>
              <a:t>Affinità dei film consigliati per l’utente</a:t>
            </a:r>
            <a:endParaRPr lang="it-IT" sz="2400" dirty="0">
              <a:latin typeface="+mj-lt"/>
            </a:endParaRPr>
          </a:p>
          <a:p>
            <a:pPr marL="0" indent="0">
              <a:buNone/>
            </a:pPr>
            <a:endParaRPr lang="it-IT" sz="2400" b="1" dirty="0">
              <a:latin typeface="+mj-lt"/>
            </a:endParaRP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CA22FF50-B7FA-80E8-6161-384F085CA651}"/>
              </a:ext>
            </a:extLst>
          </p:cNvPr>
          <p:cNvSpPr txBox="1">
            <a:spLocks/>
          </p:cNvSpPr>
          <p:nvPr/>
        </p:nvSpPr>
        <p:spPr>
          <a:xfrm>
            <a:off x="926422" y="1811861"/>
            <a:ext cx="10618501" cy="504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A1B32A8-3C37-1452-7400-139900DE3D92}"/>
              </a:ext>
            </a:extLst>
          </p:cNvPr>
          <p:cNvSpPr txBox="1"/>
          <p:nvPr/>
        </p:nvSpPr>
        <p:spPr>
          <a:xfrm>
            <a:off x="926422" y="5495214"/>
            <a:ext cx="42868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Scopri di Più				    media:    </a:t>
            </a:r>
            <a:r>
              <a:rPr lang="it-IT" sz="1400" dirty="0"/>
              <a:t>71.91</a:t>
            </a:r>
            <a:endParaRPr lang="it-IT" sz="1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34D1FCF-7134-76BD-693C-694B06716533}"/>
              </a:ext>
            </a:extLst>
          </p:cNvPr>
          <p:cNvSpPr txBox="1"/>
          <p:nvPr/>
        </p:nvSpPr>
        <p:spPr>
          <a:xfrm>
            <a:off x="6978729" y="5495214"/>
            <a:ext cx="4384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Per Te					      media:     </a:t>
            </a:r>
            <a:r>
              <a:rPr lang="it-IT" sz="1400" dirty="0"/>
              <a:t>81.47</a:t>
            </a:r>
            <a:endParaRPr lang="it-IT" sz="1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50DA0A26-03EC-40D8-A94B-5365B7786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422" y="2074229"/>
            <a:ext cx="4324954" cy="3258005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EB1F2622-3F27-AFAF-8319-3AEE50100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6361" y="2093282"/>
            <a:ext cx="4239217" cy="323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5416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3E18E-9CB2-E555-9121-DA9459E5B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4F3CC07-10CD-5256-2A6D-CDCFE5EB9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994" y="0"/>
            <a:ext cx="9601200" cy="1485900"/>
          </a:xfrm>
        </p:spPr>
        <p:txBody>
          <a:bodyPr/>
          <a:lstStyle/>
          <a:p>
            <a:r>
              <a:rPr lang="it-IT" dirty="0"/>
              <a:t>Raccomandazioni</a:t>
            </a:r>
            <a:br>
              <a:rPr lang="it-IT" dirty="0"/>
            </a:b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j-ea"/>
                <a:cs typeface="+mj-cs"/>
              </a:rPr>
              <a:t>Sezione Scopri di Più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D632B9-3F01-2F21-F0E7-BFE017D30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6422" y="1055009"/>
            <a:ext cx="10618501" cy="4308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sz="2400" b="1" dirty="0">
                <a:latin typeface="+mj-lt"/>
              </a:rPr>
              <a:t>Affinità</a:t>
            </a:r>
            <a:endParaRPr lang="it-IT" sz="2400" dirty="0">
              <a:latin typeface="+mj-lt"/>
            </a:endParaRPr>
          </a:p>
          <a:p>
            <a:pPr marL="0" indent="0">
              <a:buNone/>
            </a:pPr>
            <a:endParaRPr lang="it-IT" sz="2400" b="1" dirty="0">
              <a:latin typeface="+mj-lt"/>
            </a:endParaRP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E59C4C98-817E-9F47-43C1-96876394525B}"/>
              </a:ext>
            </a:extLst>
          </p:cNvPr>
          <p:cNvSpPr txBox="1">
            <a:spLocks/>
          </p:cNvSpPr>
          <p:nvPr/>
        </p:nvSpPr>
        <p:spPr>
          <a:xfrm>
            <a:off x="926422" y="1811861"/>
            <a:ext cx="10618501" cy="504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dirty="0"/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7D9D5A6E-AFD4-B342-B788-D161F8207252}"/>
              </a:ext>
            </a:extLst>
          </p:cNvPr>
          <p:cNvSpPr txBox="1">
            <a:spLocks/>
          </p:cNvSpPr>
          <p:nvPr/>
        </p:nvSpPr>
        <p:spPr>
          <a:xfrm>
            <a:off x="926421" y="1642170"/>
            <a:ext cx="10618501" cy="504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Calcolato il parametro di affinità per ogni film è stato possibile determinare che utilizzando la tecnica di MAB, che favorisce di più l’esplorazione, il sistema andrà a consigliare film che sono più lontani dai gusti dell’utente rispetto a quanto fatto con la sezione </a:t>
            </a:r>
            <a:r>
              <a:rPr lang="it-IT" b="1" dirty="0"/>
              <a:t>Per Te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8FC1ECF0-7F99-F617-0A2A-CB6DF160A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470" y="3208086"/>
            <a:ext cx="3619216" cy="272637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A8103D56-1439-50CE-F141-7EDF0DE7C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409" y="3227138"/>
            <a:ext cx="3547469" cy="2710426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14B4B21E-01DA-9C1D-7A8A-BAF94B8EDCD8}"/>
              </a:ext>
            </a:extLst>
          </p:cNvPr>
          <p:cNvSpPr txBox="1"/>
          <p:nvPr/>
        </p:nvSpPr>
        <p:spPr>
          <a:xfrm>
            <a:off x="1310470" y="6002051"/>
            <a:ext cx="36192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Scopri di Più				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1FA657C-FBA2-6301-0B90-BD3DB7D838A2}"/>
              </a:ext>
            </a:extLst>
          </p:cNvPr>
          <p:cNvSpPr txBox="1"/>
          <p:nvPr/>
        </p:nvSpPr>
        <p:spPr>
          <a:xfrm>
            <a:off x="7335345" y="6002051"/>
            <a:ext cx="40580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Per Te					</a:t>
            </a:r>
          </a:p>
        </p:txBody>
      </p:sp>
    </p:spTree>
    <p:extLst>
      <p:ext uri="{BB962C8B-B14F-4D97-AF65-F5344CB8AC3E}">
        <p14:creationId xmlns:p14="http://schemas.microsoft.com/office/powerpoint/2010/main" val="410586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5EDB7-E8C9-66DD-BE34-5C9EBF879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8496A7-12E8-67A7-67C3-1936371E1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994" y="0"/>
            <a:ext cx="9601200" cy="1485900"/>
          </a:xfrm>
        </p:spPr>
        <p:txBody>
          <a:bodyPr/>
          <a:lstStyle/>
          <a:p>
            <a:r>
              <a:rPr lang="it-IT" dirty="0"/>
              <a:t>Raccomandazioni</a:t>
            </a:r>
            <a:br>
              <a:rPr lang="it-IT" dirty="0"/>
            </a:b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j-ea"/>
                <a:cs typeface="+mj-cs"/>
              </a:rPr>
              <a:t>Sezione Scopri di Più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941384D-BF48-ACAB-D6CD-086D877D3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6422" y="1055009"/>
            <a:ext cx="10618501" cy="4308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sz="2400" b="1" dirty="0">
                <a:latin typeface="+mj-lt"/>
              </a:rPr>
              <a:t>Parametro di affinità</a:t>
            </a:r>
            <a:endParaRPr lang="it-IT" sz="2400" dirty="0">
              <a:latin typeface="+mj-lt"/>
            </a:endParaRPr>
          </a:p>
          <a:p>
            <a:pPr marL="0" indent="0">
              <a:buNone/>
            </a:pPr>
            <a:endParaRPr lang="it-IT" sz="2400" b="1" dirty="0">
              <a:latin typeface="+mj-lt"/>
            </a:endParaRP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44B41EBC-56CC-6467-85F9-2F688F2D9709}"/>
              </a:ext>
            </a:extLst>
          </p:cNvPr>
          <p:cNvSpPr txBox="1">
            <a:spLocks/>
          </p:cNvSpPr>
          <p:nvPr/>
        </p:nvSpPr>
        <p:spPr>
          <a:xfrm>
            <a:off x="926422" y="1811861"/>
            <a:ext cx="10618501" cy="504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dirty="0"/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95996762-92F7-CE3C-0B84-CA8A44864700}"/>
              </a:ext>
            </a:extLst>
          </p:cNvPr>
          <p:cNvSpPr txBox="1">
            <a:spLocks/>
          </p:cNvSpPr>
          <p:nvPr/>
        </p:nvSpPr>
        <p:spPr>
          <a:xfrm>
            <a:off x="1093813" y="2137821"/>
            <a:ext cx="10618501" cy="5046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CE0909D4-ABEA-B6DF-149A-D070C9EFC6DD}"/>
              </a:ext>
            </a:extLst>
          </p:cNvPr>
          <p:cNvSpPr txBox="1"/>
          <p:nvPr/>
        </p:nvSpPr>
        <p:spPr>
          <a:xfrm>
            <a:off x="1234440" y="1485900"/>
            <a:ext cx="1013856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dirty="0"/>
              <a:t>L'affinità tra un utente e un film viene calcolata come una combinazione di due parametri, ognuno dei quali contribuisce al punteggio finale in base al peso assegnato. Nel nostro caso, l'affinità viene determinata utilizzando:</a:t>
            </a:r>
          </a:p>
          <a:p>
            <a:pPr>
              <a:buNone/>
            </a:pPr>
            <a:endParaRPr lang="it-IT" dirty="0"/>
          </a:p>
          <a:p>
            <a:pPr lvl="1">
              <a:buFont typeface="+mj-lt"/>
              <a:buAutoNum type="arabicPeriod"/>
            </a:pPr>
            <a:r>
              <a:rPr lang="it-IT" b="1" dirty="0"/>
              <a:t>Rating stimato dell'utente</a:t>
            </a:r>
            <a:r>
              <a:rPr lang="it-IT" dirty="0"/>
              <a:t>: Il rating che l'utente ha assegnato al film, normalizzato su una scala da 0 a 100 (dove 100 è il rating massimo di 5 stelle).</a:t>
            </a:r>
          </a:p>
          <a:p>
            <a:pPr lvl="1">
              <a:buFont typeface="+mj-lt"/>
              <a:buAutoNum type="arabicPeriod"/>
            </a:pPr>
            <a:endParaRPr lang="it-IT" dirty="0"/>
          </a:p>
          <a:p>
            <a:pPr lvl="1">
              <a:buFont typeface="+mj-lt"/>
              <a:buAutoNum type="arabicPeriod"/>
            </a:pPr>
            <a:r>
              <a:rPr lang="it-IT" b="1" dirty="0"/>
              <a:t>Similarità del genere</a:t>
            </a:r>
            <a:r>
              <a:rPr lang="it-IT" dirty="0"/>
              <a:t>: La similarità tra i generi preferiti dall'utente e quelli del film. Viene calcolata come la frazione dei generi condivisi tra l'utente e il film, moltiplicata per 100 per ottenere un valore tra 0 e 100.</a:t>
            </a:r>
          </a:p>
          <a:p>
            <a:pPr lvl="1">
              <a:buFont typeface="+mj-lt"/>
              <a:buAutoNum type="arabicPeriod"/>
            </a:pP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ED0A4449-5BD4-A5B9-A995-86127D3DFAC4}"/>
                  </a:ext>
                </a:extLst>
              </p:cNvPr>
              <p:cNvSpPr txBox="1"/>
              <p:nvPr/>
            </p:nvSpPr>
            <p:spPr>
              <a:xfrm>
                <a:off x="1928953" y="4808085"/>
                <a:ext cx="8948219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𝑓𝑓𝑖𝑛𝑖𝑡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à</m:t>
                      </m:r>
                      <m:r>
                        <a:rPr lang="it-IT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α</m:t>
                          </m:r>
                          <m:r>
                            <a:rPr lang="it-IT" i="0">
                              <a:latin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it-IT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t-IT" b="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𝑒𝑥𝑝𝑒𝑐𝑡𝑒𝑑</m:t>
                              </m:r>
                              <m:r>
                                <a:rPr lang="it-IT" b="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it-IT" b="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𝑢𝑡𝑖𝑙𝑖𝑡𝑦</m:t>
                              </m:r>
                              <m:r>
                                <a:rPr lang="it-IT" b="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it-IT" b="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𝑝𝑒𝑟𝑐𝑒𝑛𝑡𝑎𝑔𝑒</m:t>
                              </m:r>
                            </m:num>
                            <m:den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it-IT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𝑠𝑖𝑚𝑖𝑙𝑎𝑟𝑖𝑡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à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𝑑𝑒𝑖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𝑔𝑒𝑛𝑒𝑟𝑖</m:t>
                      </m:r>
                      <m:r>
                        <a:rPr lang="it-IT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it-IT" b="0" i="0" smtClean="0">
                          <a:latin typeface="Cambria Math" panose="02040503050406030204" pitchFamily="18" charset="0"/>
                        </a:rPr>
                        <m:t>percentage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ED0A4449-5BD4-A5B9-A995-86127D3DF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8953" y="4808085"/>
                <a:ext cx="8948219" cy="6223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82343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8194D-0440-87BC-511E-276B0BE26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911700-4D38-291D-42CB-B87D1144B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0"/>
            <a:ext cx="9601200" cy="1485900"/>
          </a:xfrm>
        </p:spPr>
        <p:txBody>
          <a:bodyPr/>
          <a:lstStyle/>
          <a:p>
            <a:r>
              <a:rPr lang="it-IT" dirty="0"/>
              <a:t>Raccomandazioni</a:t>
            </a:r>
            <a:br>
              <a:rPr lang="it-IT" dirty="0"/>
            </a:b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j-ea"/>
                <a:cs typeface="+mj-cs"/>
              </a:rPr>
              <a:t>Sezione Scopri di Più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003876F-5737-79AE-6871-013612FD1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925" y="1069848"/>
            <a:ext cx="9601200" cy="3581400"/>
          </a:xfrm>
        </p:spPr>
        <p:txBody>
          <a:bodyPr/>
          <a:lstStyle/>
          <a:p>
            <a:r>
              <a:rPr lang="it-IT" b="1" dirty="0"/>
              <a:t>Esempio di interfaccia: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63727F4-04B5-3436-ADB8-48B66FE78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941" y="1838103"/>
            <a:ext cx="8002117" cy="31817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7597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8A4FC-62B2-3FA4-F98E-87F074084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4C12AAC-EF96-73C6-354D-2EFBC524B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0"/>
            <a:ext cx="9601200" cy="1485900"/>
          </a:xfrm>
        </p:spPr>
        <p:txBody>
          <a:bodyPr/>
          <a:lstStyle/>
          <a:p>
            <a:r>
              <a:rPr lang="it-IT" dirty="0"/>
              <a:t>Raccomandazioni</a:t>
            </a:r>
            <a:br>
              <a:rPr lang="it-IT" dirty="0"/>
            </a:b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j-ea"/>
                <a:cs typeface="+mj-cs"/>
              </a:rPr>
              <a:t>Sezione Perché hai visto…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9FAD2C-0A60-4793-C2D2-E512FBAF2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924" y="1069847"/>
            <a:ext cx="10618501" cy="5046139"/>
          </a:xfrm>
        </p:spPr>
        <p:txBody>
          <a:bodyPr/>
          <a:lstStyle/>
          <a:p>
            <a:r>
              <a:rPr lang="it-IT" b="1" dirty="0"/>
              <a:t>Obiettivo:</a:t>
            </a:r>
            <a:r>
              <a:rPr lang="it-IT" dirty="0"/>
              <a:t> Scelto un film tra i preferiti dell’utente vengono consigliati film simili a quello scelto</a:t>
            </a:r>
          </a:p>
          <a:p>
            <a:r>
              <a:rPr lang="it-IT" b="1" dirty="0"/>
              <a:t>Tecnica utilizzata: </a:t>
            </a:r>
            <a:r>
              <a:rPr lang="it-IT" dirty="0"/>
              <a:t>Per poter fare ciò è stato necessario costruire una matrice di similarità per stabilire la similarità tra gli item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r>
              <a:rPr lang="it-IT" dirty="0"/>
              <a:t>L’indice di similarità scelto è la </a:t>
            </a:r>
            <a:r>
              <a:rPr lang="it-IT" b="1" i="1" dirty="0"/>
              <a:t>cosine </a:t>
            </a:r>
            <a:r>
              <a:rPr lang="it-IT" b="1" i="1" dirty="0" err="1"/>
              <a:t>similarity</a:t>
            </a:r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10E5F9D7-91A7-D1DD-CF38-0813916DB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313" y="2400156"/>
            <a:ext cx="4115374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3815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D222F-5E60-64DE-8AEE-49CCCEEE6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00536B-05B9-0C93-2036-7B2E9FCC9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0"/>
            <a:ext cx="9601200" cy="1485900"/>
          </a:xfrm>
        </p:spPr>
        <p:txBody>
          <a:bodyPr/>
          <a:lstStyle/>
          <a:p>
            <a:r>
              <a:rPr lang="it-IT" dirty="0"/>
              <a:t>Raccomandazioni</a:t>
            </a:r>
            <a:br>
              <a:rPr lang="it-IT" dirty="0"/>
            </a:b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j-ea"/>
                <a:cs typeface="+mj-cs"/>
              </a:rPr>
              <a:t>Sezione Perché hai visto…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9064B37-64F8-4F19-99B3-A3461F761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924" y="1069847"/>
            <a:ext cx="10618501" cy="5046139"/>
          </a:xfrm>
        </p:spPr>
        <p:txBody>
          <a:bodyPr>
            <a:normAutofit/>
          </a:bodyPr>
          <a:lstStyle/>
          <a:p>
            <a:r>
              <a:rPr lang="it-IT" dirty="0"/>
              <a:t>Interrogando la matrice generata è stato possibile ottenere i film più simili a quello che abbiamo preso in considerazione</a:t>
            </a:r>
          </a:p>
          <a:p>
            <a:r>
              <a:rPr lang="it-IT" dirty="0"/>
              <a:t>In questo esempio selezioniamo casualmente uno dei film tra quelli con media pesata più alta: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pPr marL="0" indent="0">
              <a:buNone/>
            </a:pPr>
            <a:endParaRPr lang="it-IT" dirty="0"/>
          </a:p>
          <a:p>
            <a:r>
              <a:rPr lang="it-IT" dirty="0"/>
              <a:t>Tra i film ancora non visti dall’utente verranno mostrati quelli più simili a «</a:t>
            </a:r>
            <a:r>
              <a:rPr lang="it-IT" b="1" dirty="0"/>
              <a:t>The Lion King</a:t>
            </a:r>
            <a:r>
              <a:rPr lang="it-IT" dirty="0"/>
              <a:t>»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B1DF6091-3A09-1D58-5B3E-0F8FD3429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8684" y="2376340"/>
            <a:ext cx="4818205" cy="1820211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37BFBFA7-CB2F-6DDF-D738-A4E97F3E8A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373"/>
          <a:stretch/>
        </p:blipFill>
        <p:spPr>
          <a:xfrm>
            <a:off x="1709412" y="4738540"/>
            <a:ext cx="4658375" cy="1919435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D77FCDC4-B110-7469-6F59-5163E4C9E7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373"/>
          <a:stretch/>
        </p:blipFill>
        <p:spPr>
          <a:xfrm>
            <a:off x="6367787" y="4738540"/>
            <a:ext cx="4658375" cy="191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0620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CDE3C-8C9E-A1FE-323E-D7D76D62B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7F9584-C6A2-9F40-FF47-83744EB1F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0"/>
            <a:ext cx="9601200" cy="1485900"/>
          </a:xfrm>
        </p:spPr>
        <p:txBody>
          <a:bodyPr/>
          <a:lstStyle/>
          <a:p>
            <a:r>
              <a:rPr lang="it-IT" dirty="0"/>
              <a:t>Raccomandazioni</a:t>
            </a:r>
            <a:br>
              <a:rPr lang="it-IT" dirty="0"/>
            </a:b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j-ea"/>
                <a:cs typeface="+mj-cs"/>
              </a:rPr>
              <a:t>Sezione Film del </a:t>
            </a:r>
            <a:r>
              <a:rPr lang="it-IT" sz="1800" dirty="0">
                <a:solidFill>
                  <a:prstClr val="black">
                    <a:lumMod val="65000"/>
                    <a:lumOff val="35000"/>
                  </a:prstClr>
                </a:solidFill>
                <a:latin typeface="Franklin Gothic Book" panose="020B0503020102020204"/>
              </a:rPr>
              <a:t>g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j-ea"/>
                <a:cs typeface="+mj-cs"/>
              </a:rPr>
              <a:t>enere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j-ea"/>
                <a:cs typeface="+mj-cs"/>
              </a:rPr>
              <a:t> preferito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1157013-2410-F4C0-DE13-402EB12E3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924" y="1069847"/>
            <a:ext cx="10618501" cy="5046139"/>
          </a:xfrm>
        </p:spPr>
        <p:txBody>
          <a:bodyPr/>
          <a:lstStyle/>
          <a:p>
            <a:r>
              <a:rPr lang="it-IT" b="1" dirty="0"/>
              <a:t>Obiettivo:</a:t>
            </a:r>
            <a:r>
              <a:rPr lang="it-IT" dirty="0"/>
              <a:t> Scelto un utente individuiamo il genere preferito dell’utente calcolato con una media pesata in base ai rating dell’utente</a:t>
            </a:r>
          </a:p>
          <a:p>
            <a:r>
              <a:rPr lang="it-IT" b="1" dirty="0"/>
              <a:t>Preparazione dei dati: </a:t>
            </a:r>
            <a:r>
              <a:rPr lang="it-IT" dirty="0"/>
              <a:t>Per poter fare ciò è stato necessario fare un merge sul </a:t>
            </a:r>
            <a:r>
              <a:rPr lang="it-IT" i="1" dirty="0" err="1"/>
              <a:t>movieId</a:t>
            </a:r>
            <a:r>
              <a:rPr lang="it-IT" i="1" dirty="0"/>
              <a:t> </a:t>
            </a:r>
            <a:r>
              <a:rPr lang="it-IT" dirty="0"/>
              <a:t>dei due file </a:t>
            </a:r>
            <a:r>
              <a:rPr lang="it-IT" i="1" dirty="0"/>
              <a:t>movies.csv </a:t>
            </a:r>
            <a:r>
              <a:rPr lang="it-IT" dirty="0"/>
              <a:t>(contenente i generi) e </a:t>
            </a:r>
            <a:r>
              <a:rPr lang="it-IT" i="1" dirty="0"/>
              <a:t>ratings.csv</a:t>
            </a:r>
            <a:endParaRPr lang="it-IT" dirty="0"/>
          </a:p>
          <a:p>
            <a:r>
              <a:rPr lang="it-IT" dirty="0"/>
              <a:t>Questo nuovo file è composto in questo modo: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r>
              <a:rPr lang="it-IT" dirty="0"/>
              <a:t>Su questo file abbiamo applicato una media pesata per ottenere il genere preferito di ogni utente</a:t>
            </a:r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07B6889E-48F3-D18F-3F1B-9EDD91D847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466069"/>
              </p:ext>
            </p:extLst>
          </p:nvPr>
        </p:nvGraphicFramePr>
        <p:xfrm>
          <a:off x="2032000" y="3057939"/>
          <a:ext cx="8127999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86180735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9504794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062066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userID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genre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rating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584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857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Adventure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751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42148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85345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6B3FC-81F9-3C67-68D2-848714A59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2D6B7D6-5608-2419-2B11-BD87F7497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0"/>
            <a:ext cx="9601200" cy="1485900"/>
          </a:xfrm>
        </p:spPr>
        <p:txBody>
          <a:bodyPr/>
          <a:lstStyle/>
          <a:p>
            <a:r>
              <a:rPr lang="it-IT" dirty="0"/>
              <a:t>Raccomandazioni</a:t>
            </a:r>
            <a:br>
              <a:rPr lang="it-IT" dirty="0"/>
            </a:b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j-ea"/>
                <a:cs typeface="+mj-cs"/>
              </a:rPr>
              <a:t>Sezione Film del </a:t>
            </a:r>
            <a:r>
              <a:rPr lang="it-IT" sz="1800" dirty="0">
                <a:solidFill>
                  <a:prstClr val="black">
                    <a:lumMod val="65000"/>
                    <a:lumOff val="35000"/>
                  </a:prstClr>
                </a:solidFill>
                <a:latin typeface="Franklin Gothic Book" panose="020B0503020102020204"/>
              </a:rPr>
              <a:t>g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j-ea"/>
                <a:cs typeface="+mj-cs"/>
              </a:rPr>
              <a:t>enere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j-ea"/>
                <a:cs typeface="+mj-cs"/>
              </a:rPr>
              <a:t> preferito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F0A71EA-AB69-DB64-88BF-C96EEF568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925" y="1069848"/>
            <a:ext cx="9601200" cy="3581400"/>
          </a:xfrm>
        </p:spPr>
        <p:txBody>
          <a:bodyPr/>
          <a:lstStyle/>
          <a:p>
            <a:r>
              <a:rPr lang="it-IT" dirty="0"/>
              <a:t>Ottenuto il genere preferito, mostriamo i film con </a:t>
            </a:r>
            <a:r>
              <a:rPr lang="it-IT" i="1" dirty="0" err="1"/>
              <a:t>estimated_rating</a:t>
            </a:r>
            <a:r>
              <a:rPr lang="it-IT" dirty="0"/>
              <a:t> più alto di quel genere</a:t>
            </a:r>
          </a:p>
          <a:p>
            <a:r>
              <a:rPr lang="it-IT" b="1" dirty="0"/>
              <a:t>Esempio di interfaccia: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9F899FD2-A648-BC21-900F-503AD1D03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440" y="2487502"/>
            <a:ext cx="7840169" cy="3400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418659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20862-9428-0C65-C0C4-7453F4B2B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6026CDB-2060-3461-B403-FAFC1D3E7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219456"/>
            <a:ext cx="9601200" cy="1485900"/>
          </a:xfrm>
        </p:spPr>
        <p:txBody>
          <a:bodyPr/>
          <a:lstStyle/>
          <a:p>
            <a:r>
              <a:rPr lang="it-IT" dirty="0"/>
              <a:t>Raccomandazioni</a:t>
            </a:r>
            <a:br>
              <a:rPr lang="it-IT" dirty="0"/>
            </a:b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j-ea"/>
                <a:cs typeface="+mj-cs"/>
              </a:rPr>
              <a:t>Sezione Attore Preferito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864D9E9-7DD8-4592-C5CA-6D3B7BBD1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925" y="1807082"/>
            <a:ext cx="10618501" cy="3734182"/>
          </a:xfrm>
        </p:spPr>
        <p:txBody>
          <a:bodyPr>
            <a:normAutofit/>
          </a:bodyPr>
          <a:lstStyle/>
          <a:p>
            <a:r>
              <a:rPr lang="it-IT" b="1" dirty="0"/>
              <a:t>Obiettivo:</a:t>
            </a:r>
            <a:r>
              <a:rPr lang="it-IT" dirty="0"/>
              <a:t> Individuare l’attore preferito dell’utente in base alle valutazioni attribuite ai film che ha visto. Consigliare i migliori film in cui l’attore è presente</a:t>
            </a:r>
          </a:p>
          <a:p>
            <a:pPr marL="0" indent="0">
              <a:buNone/>
            </a:pPr>
            <a:endParaRPr lang="it-IT" dirty="0"/>
          </a:p>
          <a:p>
            <a:r>
              <a:rPr lang="it-IT" b="1" dirty="0"/>
              <a:t>Preparazione dei dati: </a:t>
            </a:r>
            <a:r>
              <a:rPr lang="it-IT" dirty="0"/>
              <a:t>Tramite chiamate all'API di </a:t>
            </a:r>
            <a:r>
              <a:rPr lang="it-IT" b="1" dirty="0"/>
              <a:t>IMDB</a:t>
            </a:r>
            <a:r>
              <a:rPr lang="it-IT" dirty="0"/>
              <a:t> e utilizzando </a:t>
            </a:r>
            <a:r>
              <a:rPr lang="it-IT" i="1" dirty="0"/>
              <a:t>l'</a:t>
            </a:r>
            <a:r>
              <a:rPr lang="it-IT" i="1" dirty="0" err="1"/>
              <a:t>imdb_id</a:t>
            </a:r>
            <a:r>
              <a:rPr lang="it-IT" dirty="0"/>
              <a:t>, abbiamo ottenuto i 3 attori principali per ogni film.</a:t>
            </a:r>
          </a:p>
          <a:p>
            <a:r>
              <a:rPr lang="it-IT" dirty="0"/>
              <a:t>Successivamente, abbiamo associato il voto del film in cui compare l'attore all’attore corrispondente, generando una nuova matrice.</a:t>
            </a:r>
          </a:p>
          <a:p>
            <a:r>
              <a:rPr lang="it-IT" dirty="0"/>
              <a:t>Su questa nuova matrice abbiamo calcolato una media ponderata dei voti associati agli attori, al fine di ottenere l’attore preferito dell’utente.</a:t>
            </a:r>
          </a:p>
        </p:txBody>
      </p:sp>
    </p:spTree>
    <p:extLst>
      <p:ext uri="{BB962C8B-B14F-4D97-AF65-F5344CB8AC3E}">
        <p14:creationId xmlns:p14="http://schemas.microsoft.com/office/powerpoint/2010/main" val="151251071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9066F-A0DA-4E76-4B31-C5E2B9BCB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A89868-0E43-8FD7-E95E-F831EA2D6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219456"/>
            <a:ext cx="9601200" cy="1485900"/>
          </a:xfrm>
        </p:spPr>
        <p:txBody>
          <a:bodyPr/>
          <a:lstStyle/>
          <a:p>
            <a:r>
              <a:rPr lang="it-IT" dirty="0"/>
              <a:t>Raccomandazioni</a:t>
            </a:r>
            <a:br>
              <a:rPr lang="it-IT" dirty="0"/>
            </a:b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j-ea"/>
                <a:cs typeface="+mj-cs"/>
              </a:rPr>
              <a:t>Sezione Attore Preferito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2D0CB6F-7D63-4BA7-6929-351A375C3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925" y="1807082"/>
            <a:ext cx="10618501" cy="4188984"/>
          </a:xfrm>
        </p:spPr>
        <p:txBody>
          <a:bodyPr>
            <a:normAutofit/>
          </a:bodyPr>
          <a:lstStyle/>
          <a:p>
            <a:r>
              <a:rPr lang="it-IT" b="1" dirty="0"/>
              <a:t>Problema! </a:t>
            </a:r>
            <a:r>
              <a:rPr lang="it-IT" dirty="0"/>
              <a:t>In </a:t>
            </a:r>
            <a:r>
              <a:rPr lang="it-IT" dirty="0" err="1"/>
              <a:t>DBPedia</a:t>
            </a:r>
            <a:r>
              <a:rPr lang="it-IT" dirty="0"/>
              <a:t> ad ogni film è associata una lista di attori che vi partecipano </a:t>
            </a:r>
            <a:r>
              <a:rPr lang="it-IT" b="1" dirty="0"/>
              <a:t>(cast). </a:t>
            </a:r>
            <a:r>
              <a:rPr lang="it-IT" dirty="0"/>
              <a:t>Tale lista risulta però non ordinata (in base all’importanza dell’attore nel film), quindi l’informazione seppur completa non era abbastanza specifica per il nostro obiettivo.</a:t>
            </a:r>
          </a:p>
          <a:p>
            <a:endParaRPr lang="it-IT" dirty="0"/>
          </a:p>
          <a:p>
            <a:r>
              <a:rPr lang="it-IT" b="1" dirty="0"/>
              <a:t>Soluzione:</a:t>
            </a:r>
            <a:r>
              <a:rPr lang="it-IT" dirty="0"/>
              <a:t> Abbiamo utilizzato il database di film </a:t>
            </a:r>
            <a:r>
              <a:rPr lang="it-IT" dirty="0" err="1"/>
              <a:t>IMDb</a:t>
            </a:r>
            <a:r>
              <a:rPr lang="it-IT" dirty="0"/>
              <a:t> contenente il campo </a:t>
            </a:r>
            <a:r>
              <a:rPr lang="it-IT" b="1" dirty="0"/>
              <a:t>stars</a:t>
            </a:r>
            <a:r>
              <a:rPr lang="it-IT" dirty="0"/>
              <a:t> con i 3 attori principali per ogni film.</a:t>
            </a:r>
          </a:p>
          <a:p>
            <a:r>
              <a:rPr lang="it-IT" dirty="0"/>
              <a:t>Questo ci ha permesso di poter generare una matrice con attori-rating </a:t>
            </a:r>
            <a:r>
              <a:rPr lang="it-IT" b="1" dirty="0"/>
              <a:t>molto più piccola</a:t>
            </a:r>
            <a:r>
              <a:rPr lang="it-IT" dirty="0"/>
              <a:t> in confronto a quella che avremmo potuto generare a partire dall’elenco completo di tutti gli attori del film.</a:t>
            </a:r>
          </a:p>
        </p:txBody>
      </p:sp>
    </p:spTree>
    <p:extLst>
      <p:ext uri="{BB962C8B-B14F-4D97-AF65-F5344CB8AC3E}">
        <p14:creationId xmlns:p14="http://schemas.microsoft.com/office/powerpoint/2010/main" val="3458444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523C3-B69F-F2D1-20B1-8121E4635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641DDB-8632-E97C-D908-48E923915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0"/>
            <a:ext cx="9601200" cy="1485900"/>
          </a:xfrm>
        </p:spPr>
        <p:txBody>
          <a:bodyPr/>
          <a:lstStyle/>
          <a:p>
            <a:r>
              <a:rPr lang="it-IT" dirty="0"/>
              <a:t>Raccomandazioni</a:t>
            </a:r>
            <a:br>
              <a:rPr lang="it-IT" dirty="0"/>
            </a:b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j-ea"/>
                <a:cs typeface="+mj-cs"/>
              </a:rPr>
              <a:t>Sezione Attore Preferito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AADFC6F2-65A7-3796-DC8D-2669BA7BA8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23924" y="1069847"/>
                <a:ext cx="11268076" cy="5721478"/>
              </a:xfrm>
            </p:spPr>
            <p:txBody>
              <a:bodyPr/>
              <a:lstStyle/>
              <a:p>
                <a:r>
                  <a:rPr lang="it-IT" dirty="0"/>
                  <a:t>La media è stata calcolata nel seguente modo:</a:t>
                </a:r>
              </a:p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r>
                  <a:rPr lang="it-IT" b="1" i="1" dirty="0">
                    <a:latin typeface="Cambria Math" panose="02040503050406030204" pitchFamily="18" charset="0"/>
                  </a:rPr>
                  <a:t>	</a:t>
                </a:r>
                <a:r>
                  <a:rPr lang="it-IT" b="1" dirty="0" err="1">
                    <a:latin typeface="Cambria Math" panose="02040503050406030204" pitchFamily="18" charset="0"/>
                  </a:rPr>
                  <a:t>weighted_rating</a:t>
                </a:r>
                <a:r>
                  <a:rPr lang="it-IT" b="1" dirty="0"/>
                  <a:t> </a:t>
                </a:r>
                <a14:m>
                  <m:oMath xmlns:m="http://schemas.openxmlformats.org/officeDocument/2006/math">
                    <m:r>
                      <a:rPr lang="it-IT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it-IT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b="1" i="1" smtClean="0">
                                <a:latin typeface="Cambria Math" panose="02040503050406030204" pitchFamily="18" charset="0"/>
                              </a:rPr>
                              <m:t>𝒎𝒆𝒂𝒏</m:t>
                            </m:r>
                            <m:r>
                              <a:rPr lang="it-IT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it-IT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it-IT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it-IT" b="1" i="1" smtClean="0">
                                <a:latin typeface="Cambria Math" panose="02040503050406030204" pitchFamily="18" charset="0"/>
                              </a:rPr>
                              <m:t>𝒄𝒐𝒖𝒏𝒕</m:t>
                            </m:r>
                          </m:e>
                        </m:d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+(</m:t>
                        </m:r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𝒄𝒐𝒖𝒏𝒕</m:t>
                        </m:r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den>
                    </m:f>
                    <m:r>
                      <a:rPr lang="it-IT" b="1" i="1">
                        <a:latin typeface="Cambria Math" panose="02040503050406030204" pitchFamily="18" charset="0"/>
                      </a:rPr>
                      <m:t>​</m:t>
                    </m:r>
                  </m:oMath>
                </a14:m>
                <a:endParaRPr lang="it-IT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it-IT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it-IT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it-IT" dirty="0"/>
              </a:p>
              <a:p>
                <a:r>
                  <a:rPr lang="it-IT" dirty="0"/>
                  <a:t>I dati ottenuti per ogni utente dal calcolo della media ponderata hanno la seguente forma:</a:t>
                </a:r>
              </a:p>
              <a:p>
                <a:pPr marL="0" indent="0">
                  <a:buNone/>
                </a:pPr>
                <a:endParaRPr lang="it-IT" dirty="0"/>
              </a:p>
              <a:p>
                <a:endParaRPr lang="it-IT" dirty="0"/>
              </a:p>
              <a:p>
                <a:endParaRPr lang="it-IT" dirty="0"/>
              </a:p>
              <a:p>
                <a:pPr marL="0" indent="0">
                  <a:buNone/>
                </a:pPr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AADFC6F2-65A7-3796-DC8D-2669BA7BA8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3924" y="1069847"/>
                <a:ext cx="11268076" cy="5721478"/>
              </a:xfrm>
              <a:blipFill>
                <a:blip r:embed="rId2"/>
                <a:stretch>
                  <a:fillRect l="-487" t="-85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31ED886A-6F6C-5B25-AA67-BB0F499F9B3B}"/>
              </a:ext>
            </a:extLst>
          </p:cNvPr>
          <p:cNvGraphicFramePr>
            <a:graphicFrameLocks noGrp="1"/>
          </p:cNvGraphicFramePr>
          <p:nvPr/>
        </p:nvGraphicFramePr>
        <p:xfrm>
          <a:off x="3386667" y="4467988"/>
          <a:ext cx="5418666" cy="1478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06222">
                  <a:extLst>
                    <a:ext uri="{9D8B030D-6E8A-4147-A177-3AD203B41FA5}">
                      <a16:colId xmlns:a16="http://schemas.microsoft.com/office/drawing/2014/main" val="2861807350"/>
                    </a:ext>
                  </a:extLst>
                </a:gridCol>
                <a:gridCol w="1806222">
                  <a:extLst>
                    <a:ext uri="{9D8B030D-6E8A-4147-A177-3AD203B41FA5}">
                      <a16:colId xmlns:a16="http://schemas.microsoft.com/office/drawing/2014/main" val="2444316181"/>
                    </a:ext>
                  </a:extLst>
                </a:gridCol>
                <a:gridCol w="1806222">
                  <a:extLst>
                    <a:ext uri="{9D8B030D-6E8A-4147-A177-3AD203B41FA5}">
                      <a16:colId xmlns:a16="http://schemas.microsoft.com/office/drawing/2014/main" val="25950479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userID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actor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weighted_rating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584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Adolfo Celi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4.479476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857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Al Pacino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4.467486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751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Alan Alda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4.458789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4214891"/>
                  </a:ext>
                </a:extLst>
              </a:tr>
            </a:tbl>
          </a:graphicData>
        </a:graphic>
      </p:graphicFrame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EB548076-F3A1-B8EE-35DA-8299B6B1FADC}"/>
              </a:ext>
            </a:extLst>
          </p:cNvPr>
          <p:cNvSpPr txBox="1">
            <a:spLocks/>
          </p:cNvSpPr>
          <p:nvPr/>
        </p:nvSpPr>
        <p:spPr>
          <a:xfrm>
            <a:off x="6400800" y="1635823"/>
            <a:ext cx="5791200" cy="26822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indent="-384048" algn="l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Tx/>
              <a:buSzPts val="2000"/>
              <a:buFont typeface="Courier New" panose="02070309020205020404" pitchFamily="49" charset="0"/>
              <a:buChar char="o"/>
            </a:pPr>
            <a:r>
              <a:rPr lang="it-IT" sz="1800" b="1" i="1" kern="1200" baseline="0" dirty="0" err="1">
                <a:solidFill>
                  <a:srgbClr val="191B0E"/>
                </a:solidFill>
                <a:effectLst/>
                <a:latin typeface="Franklin Gothic Book" panose="020B0503020102020204" pitchFamily="34" charset="0"/>
                <a:ea typeface="+mn-ea"/>
                <a:cs typeface="+mn-cs"/>
              </a:rPr>
              <a:t>mean</a:t>
            </a:r>
            <a:r>
              <a:rPr lang="it-IT" sz="1800" i="1" kern="1200" baseline="0" dirty="0">
                <a:solidFill>
                  <a:srgbClr val="191B0E"/>
                </a:solidFill>
                <a:effectLst/>
                <a:latin typeface="Franklin Gothic Book" panose="020B0503020102020204" pitchFamily="34" charset="0"/>
                <a:ea typeface="+mn-ea"/>
                <a:cs typeface="+mn-cs"/>
              </a:rPr>
              <a:t>: </a:t>
            </a:r>
            <a:r>
              <a:rPr lang="it-IT" sz="1800" kern="1200" baseline="0" dirty="0">
                <a:solidFill>
                  <a:srgbClr val="191B0E"/>
                </a:solidFill>
                <a:effectLst/>
                <a:latin typeface="Franklin Gothic Book" panose="020B0503020102020204" pitchFamily="34" charset="0"/>
                <a:ea typeface="+mn-ea"/>
                <a:cs typeface="+mn-cs"/>
              </a:rPr>
              <a:t>media dei rating dell'attore.</a:t>
            </a:r>
            <a:endParaRPr lang="it-IT" sz="1800" dirty="0">
              <a:effectLst/>
            </a:endParaRPr>
          </a:p>
          <a:p>
            <a:pPr marL="914400" indent="-384048" algn="l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Courier New" panose="02070309020205020404" pitchFamily="49" charset="0"/>
              <a:buChar char="o"/>
            </a:pPr>
            <a:r>
              <a:rPr lang="it-IT" sz="1800" b="1" i="1" kern="1200" baseline="0" dirty="0" err="1">
                <a:solidFill>
                  <a:srgbClr val="191B0E"/>
                </a:solidFill>
                <a:effectLst/>
                <a:latin typeface="Franklin Gothic Book" panose="020B0503020102020204" pitchFamily="34" charset="0"/>
                <a:ea typeface="+mn-ea"/>
                <a:cs typeface="+mn-cs"/>
              </a:rPr>
              <a:t>count</a:t>
            </a:r>
            <a:r>
              <a:rPr lang="it-IT" sz="1800" i="1" kern="1200" baseline="0" dirty="0">
                <a:solidFill>
                  <a:srgbClr val="191B0E"/>
                </a:solidFill>
                <a:effectLst/>
                <a:latin typeface="Franklin Gothic Book" panose="020B0503020102020204" pitchFamily="34" charset="0"/>
                <a:ea typeface="+mn-ea"/>
                <a:cs typeface="+mn-cs"/>
              </a:rPr>
              <a:t>: </a:t>
            </a:r>
            <a:r>
              <a:rPr lang="it-IT" sz="1800" kern="1200" baseline="0" dirty="0">
                <a:solidFill>
                  <a:srgbClr val="191B0E"/>
                </a:solidFill>
                <a:effectLst/>
                <a:latin typeface="Franklin Gothic Book" panose="020B0503020102020204" pitchFamily="34" charset="0"/>
                <a:ea typeface="+mn-ea"/>
                <a:cs typeface="+mn-cs"/>
              </a:rPr>
              <a:t>numero di voti ricevuti dall'attore.</a:t>
            </a:r>
            <a:endParaRPr lang="it-IT" dirty="0">
              <a:effectLst/>
            </a:endParaRPr>
          </a:p>
          <a:p>
            <a:pPr marL="914400" indent="-384048" algn="l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Courier New" panose="02070309020205020404" pitchFamily="49" charset="0"/>
              <a:buChar char="o"/>
            </a:pPr>
            <a:r>
              <a:rPr lang="it-IT" sz="1800" b="1" i="1" kern="1200" baseline="0" dirty="0">
                <a:solidFill>
                  <a:srgbClr val="191B0E"/>
                </a:solidFill>
                <a:effectLst/>
                <a:latin typeface="Franklin Gothic Book" panose="020B0503020102020204" pitchFamily="34" charset="0"/>
                <a:ea typeface="+mn-ea"/>
                <a:cs typeface="+mn-cs"/>
              </a:rPr>
              <a:t>C</a:t>
            </a:r>
            <a:r>
              <a:rPr lang="it-IT" sz="1800" i="1" kern="1200" baseline="0" dirty="0">
                <a:solidFill>
                  <a:srgbClr val="191B0E"/>
                </a:solidFill>
                <a:effectLst/>
                <a:latin typeface="Franklin Gothic Book" panose="020B0503020102020204" pitchFamily="34" charset="0"/>
                <a:ea typeface="+mn-ea"/>
                <a:cs typeface="+mn-cs"/>
              </a:rPr>
              <a:t>: </a:t>
            </a:r>
            <a:r>
              <a:rPr lang="it-IT" sz="1800" kern="1200" baseline="0" dirty="0">
                <a:solidFill>
                  <a:srgbClr val="191B0E"/>
                </a:solidFill>
                <a:effectLst/>
                <a:latin typeface="Franklin Gothic Book" panose="020B0503020102020204" pitchFamily="34" charset="0"/>
                <a:ea typeface="+mn-ea"/>
                <a:cs typeface="+mn-cs"/>
              </a:rPr>
              <a:t>media globale di tutti i rating dell'utente.</a:t>
            </a:r>
            <a:endParaRPr lang="it-IT" dirty="0">
              <a:effectLst/>
            </a:endParaRPr>
          </a:p>
          <a:p>
            <a:pPr marL="914400" indent="-384048" algn="l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Courier New" panose="02070309020205020404" pitchFamily="49" charset="0"/>
              <a:buChar char="o"/>
            </a:pPr>
            <a:r>
              <a:rPr lang="it-IT" sz="1800" b="1" i="1" kern="1200" baseline="0" dirty="0">
                <a:solidFill>
                  <a:srgbClr val="191B0E"/>
                </a:solidFill>
                <a:effectLst/>
                <a:latin typeface="Franklin Gothic Book" panose="020B0503020102020204" pitchFamily="34" charset="0"/>
                <a:ea typeface="+mn-ea"/>
                <a:cs typeface="+mn-cs"/>
              </a:rPr>
              <a:t>m</a:t>
            </a:r>
            <a:r>
              <a:rPr lang="it-IT" sz="1800" i="1" kern="1200" baseline="0" dirty="0">
                <a:solidFill>
                  <a:srgbClr val="191B0E"/>
                </a:solidFill>
                <a:effectLst/>
                <a:latin typeface="Franklin Gothic Book" panose="020B0503020102020204" pitchFamily="34" charset="0"/>
                <a:ea typeface="+mn-ea"/>
                <a:cs typeface="+mn-cs"/>
              </a:rPr>
              <a:t>: </a:t>
            </a:r>
            <a:r>
              <a:rPr lang="it-IT" sz="1800" kern="1200" baseline="0" dirty="0">
                <a:solidFill>
                  <a:srgbClr val="191B0E"/>
                </a:solidFill>
                <a:effectLst/>
                <a:latin typeface="Franklin Gothic Book" panose="020B0503020102020204" pitchFamily="34" charset="0"/>
                <a:ea typeface="+mn-ea"/>
                <a:cs typeface="+mn-cs"/>
              </a:rPr>
              <a:t>parametro di bilanciamento (più è alto, più il numero di voti incide sul rating finale).</a:t>
            </a:r>
            <a:endParaRPr lang="it-IT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7970526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3166D-D9A4-24BD-08F8-D13EA2EBF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BEFE30-EB26-5EF1-F615-809C67A2D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0"/>
            <a:ext cx="9601200" cy="1485900"/>
          </a:xfrm>
        </p:spPr>
        <p:txBody>
          <a:bodyPr/>
          <a:lstStyle/>
          <a:p>
            <a:r>
              <a:rPr lang="it-IT" dirty="0"/>
              <a:t>Raccomandazioni</a:t>
            </a:r>
            <a:br>
              <a:rPr lang="it-IT" dirty="0"/>
            </a:b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j-ea"/>
                <a:cs typeface="+mj-cs"/>
              </a:rPr>
              <a:t>Sezione Attore Preferito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1189D4A-0937-AB85-9312-9220DFCAE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925" y="1069848"/>
            <a:ext cx="9601200" cy="3581400"/>
          </a:xfrm>
        </p:spPr>
        <p:txBody>
          <a:bodyPr/>
          <a:lstStyle/>
          <a:p>
            <a:r>
              <a:rPr lang="it-IT" b="1" dirty="0"/>
              <a:t>Esempio di interfaccia: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E2D58DC6-CA15-F46F-DA99-5B78B1BD7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608" y="1845925"/>
            <a:ext cx="7802064" cy="30198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6191619"/>
      </p:ext>
    </p:extLst>
  </p:cSld>
  <p:clrMapOvr>
    <a:masterClrMapping/>
  </p:clrMapOvr>
</p:sld>
</file>

<file path=ppt/theme/theme1.xml><?xml version="1.0" encoding="utf-8"?>
<a:theme xmlns:a="http://schemas.openxmlformats.org/drawingml/2006/main" name="Ritaglio">
  <a:themeElements>
    <a:clrScheme name="Ritaglio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Ritaglio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itagli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TM10001105[[fn=Ritaglio]]</Template>
  <TotalTime>966</TotalTime>
  <Words>3131</Words>
  <Application>Microsoft Office PowerPoint</Application>
  <PresentationFormat>Widescreen</PresentationFormat>
  <Paragraphs>372</Paragraphs>
  <Slides>58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58</vt:i4>
      </vt:variant>
    </vt:vector>
  </HeadingPairs>
  <TitlesOfParts>
    <vt:vector size="67" baseType="lpstr">
      <vt:lpstr>ADLaM Display</vt:lpstr>
      <vt:lpstr>Aptos</vt:lpstr>
      <vt:lpstr>Arial</vt:lpstr>
      <vt:lpstr>Cambria Math</vt:lpstr>
      <vt:lpstr>Courier New</vt:lpstr>
      <vt:lpstr>Franklin Gothic Book</vt:lpstr>
      <vt:lpstr>Symbol</vt:lpstr>
      <vt:lpstr>Wingdings</vt:lpstr>
      <vt:lpstr>Ritaglio</vt:lpstr>
      <vt:lpstr>PROGETTO INTELLIGENT WEB</vt:lpstr>
      <vt:lpstr>Obiettivi</vt:lpstr>
      <vt:lpstr>Obiettivi</vt:lpstr>
      <vt:lpstr>Tecniche utilizzate</vt:lpstr>
      <vt:lpstr>L’idea</vt:lpstr>
      <vt:lpstr>PRE-PROCESSING DEI DATI</vt:lpstr>
      <vt:lpstr>Pre-processing dei dati</vt:lpstr>
      <vt:lpstr>Pre-processing dei dati Mapping tra MovieLens e DBPedia</vt:lpstr>
      <vt:lpstr>Pre-processing dei dati Mapping tra MovieLens e DBPedia</vt:lpstr>
      <vt:lpstr>Pre-processing dei dati Mapping tra MovieLens e DBPedia</vt:lpstr>
      <vt:lpstr>Pre-processing dei dati Mapping tra MovieLens e DBPedia</vt:lpstr>
      <vt:lpstr>Sviluppo del Sistema di Raccomandazione</vt:lpstr>
      <vt:lpstr>MODELLI</vt:lpstr>
      <vt:lpstr>Modello SVD</vt:lpstr>
      <vt:lpstr>Modello SVD</vt:lpstr>
      <vt:lpstr>Confronto con altri modelli</vt:lpstr>
      <vt:lpstr>Modello KNNBasic</vt:lpstr>
      <vt:lpstr>Modello KNNBaseline</vt:lpstr>
      <vt:lpstr>VERIFICHE SPERIMENTALI</vt:lpstr>
      <vt:lpstr>Metriche per la valutazione</vt:lpstr>
      <vt:lpstr>Confronto modelli</vt:lpstr>
      <vt:lpstr>Confronto modelli</vt:lpstr>
      <vt:lpstr>Confronto modelli</vt:lpstr>
      <vt:lpstr>Confronto modelli</vt:lpstr>
      <vt:lpstr>Metriche</vt:lpstr>
      <vt:lpstr>Confronto modelli</vt:lpstr>
      <vt:lpstr>Confronto modelli</vt:lpstr>
      <vt:lpstr>APPLICAZIONI</vt:lpstr>
      <vt:lpstr>Raccomandazioni Sezione Per Te</vt:lpstr>
      <vt:lpstr>Raccomandazioni Sezione Per Te</vt:lpstr>
      <vt:lpstr>Raccomandazioni Sezione Per Te</vt:lpstr>
      <vt:lpstr>Raccomandazioni Sezione Per Te</vt:lpstr>
      <vt:lpstr>Raccomandazioni Sezione Per Te</vt:lpstr>
      <vt:lpstr>Raccomandazioni Sezione Per Te</vt:lpstr>
      <vt:lpstr>Raccomandazioni Sezione Scopri di Più</vt:lpstr>
      <vt:lpstr>Raccomandazioni Sezione Scopri di Più</vt:lpstr>
      <vt:lpstr>Raccomandazioni Sezione Scopri di Più</vt:lpstr>
      <vt:lpstr>Raccomandazioni Sezione Scopri di Più</vt:lpstr>
      <vt:lpstr>Raccomandazioni Sezione Scopri di Più</vt:lpstr>
      <vt:lpstr>Raccomandazioni Sezione Scopri di Più</vt:lpstr>
      <vt:lpstr>Raccomandazioni Sezione Scopri di Più</vt:lpstr>
      <vt:lpstr>Raccomandazioni Sezione Scopri di Più</vt:lpstr>
      <vt:lpstr>Raccomandazioni Sezione Scopri di Più</vt:lpstr>
      <vt:lpstr>Raccomandazioni Sezione Scopri di Più</vt:lpstr>
      <vt:lpstr>Raccomandazioni Sezione Scopri di Più</vt:lpstr>
      <vt:lpstr>Raccomandazioni Sezione Scopri di Più</vt:lpstr>
      <vt:lpstr>Raccomandazioni Sezione Scopri di Più</vt:lpstr>
      <vt:lpstr>Raccomandazioni Sezione Scopri di Più</vt:lpstr>
      <vt:lpstr>Raccomandazioni Sezione Scopri di Più</vt:lpstr>
      <vt:lpstr>Raccomandazioni Sezione Scopri di Più</vt:lpstr>
      <vt:lpstr>Raccomandazioni Sezione Perché hai visto…</vt:lpstr>
      <vt:lpstr>Raccomandazioni Sezione Perché hai visto…</vt:lpstr>
      <vt:lpstr>Raccomandazioni Sezione Film del genere preferito</vt:lpstr>
      <vt:lpstr>Raccomandazioni Sezione Film del genere preferito</vt:lpstr>
      <vt:lpstr>Raccomandazioni Sezione Attore Preferito</vt:lpstr>
      <vt:lpstr>Raccomandazioni Sezione Attore Preferito</vt:lpstr>
      <vt:lpstr>Raccomandazioni Sezione Attore Preferito</vt:lpstr>
      <vt:lpstr>Raccomandazioni Sezione Attore Preferito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RICCARDO CONVERSO</dc:creator>
  <cp:lastModifiedBy>RICCARDO CONVERSO</cp:lastModifiedBy>
  <cp:revision>101</cp:revision>
  <dcterms:created xsi:type="dcterms:W3CDTF">2025-03-19T10:43:33Z</dcterms:created>
  <dcterms:modified xsi:type="dcterms:W3CDTF">2025-04-11T08:56:01Z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2025-03-19T11:16:06Z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ef8a1179-9319-4ced-8805-31869c0ceabd</vt:lpwstr>
  </property>
  <property fmtid="{D5CDD505-2E9C-101B-9397-08002B2CF9AE}" pid="8" name="MSIP_Label_2ad0b24d-6422-44b0-b3de-abb3a9e8c81a_ContentBits">
    <vt:lpwstr>0</vt:lpwstr>
  </property>
  <property fmtid="{D5CDD505-2E9C-101B-9397-08002B2CF9AE}" pid="9" name="MSIP_Label_2ad0b24d-6422-44b0-b3de-abb3a9e8c81a_Tag">
    <vt:lpwstr>10, 3, 0, 1</vt:lpwstr>
  </property>
</Properties>
</file>